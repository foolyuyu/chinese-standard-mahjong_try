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4" r:id="rId7"/>
    <p:sldId id="266" r:id="rId8"/>
    <p:sldId id="267" r:id="rId9"/>
    <p:sldId id="268" r:id="rId10"/>
    <p:sldId id="269" r:id="rId11"/>
    <p:sldId id="270" r:id="rId12"/>
    <p:sldId id="271" r:id="rId13"/>
    <p:sldId id="272" r:id="rId14"/>
    <p:sldId id="273" r:id="rId15"/>
    <p:sldId id="274" r:id="rId16"/>
    <p:sldId id="275" r:id="rId17"/>
    <p:sldId id="276" r:id="rId18"/>
    <p:sldId id="277" r:id="rId19"/>
    <p:sldId id="280" r:id="rId20"/>
    <p:sldId id="278"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8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7"/>
            <a:ext cx="9144000" cy="1655763"/>
          </a:xfrm>
        </p:spPr>
        <p:txBody>
          <a:bodyPr/>
          <a:lstStyle>
            <a:lvl1pPr marL="0" indent="0" algn="ctr">
              <a:buNone/>
              <a:defRPr sz="3200"/>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zh-CN" altLang="en-US"/>
              <a:t>单击此处编辑母版副标题样式</a:t>
            </a:r>
            <a:endParaRPr lang="en-US"/>
          </a:p>
        </p:txBody>
      </p:sp>
      <p:sp>
        <p:nvSpPr>
          <p:cNvPr id="4" name="Date Placeholder 3"/>
          <p:cNvSpPr>
            <a:spLocks noGrp="1"/>
          </p:cNvSpPr>
          <p:nvPr>
            <p:ph type="dt" sz="half" idx="10"/>
          </p:nvPr>
        </p:nvSpPr>
        <p:spPr/>
        <p:txBody>
          <a:bodyPr/>
          <a:lstStyle/>
          <a:p>
            <a:fld id="{F5587C6D-27DE-42DC-8259-BEC71FB1CA6A}" type="datetimeFigureOut">
              <a:rPr lang="zh-CN" altLang="en-US" smtClean="0"/>
              <a:t>2023/5/13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AD82667-72BD-4D5F-94AE-4151A88ED847}" type="slidenum">
              <a:rPr lang="zh-CN" altLang="en-US" smtClean="0"/>
              <a:t>‹#›</a:t>
            </a:fld>
            <a:endParaRPr lang="zh-CN" altLang="en-US"/>
          </a:p>
        </p:txBody>
      </p:sp>
    </p:spTree>
    <p:extLst>
      <p:ext uri="{BB962C8B-B14F-4D97-AF65-F5344CB8AC3E}">
        <p14:creationId xmlns:p14="http://schemas.microsoft.com/office/powerpoint/2010/main" val="19823400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838200" y="1138517"/>
            <a:ext cx="10515600" cy="552171"/>
          </a:xfrm>
        </p:spPr>
        <p:txBody>
          <a:bodyPr>
            <a:normAutofit/>
          </a:bodyPr>
          <a:lstStyle>
            <a:lvl1pPr>
              <a:defRPr sz="4267"/>
            </a:lvl1p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a:xfrm>
            <a:off x="838200" y="6428068"/>
            <a:ext cx="2743200" cy="365125"/>
          </a:xfrm>
        </p:spPr>
        <p:txBody>
          <a:bodyPr/>
          <a:lstStyle/>
          <a:p>
            <a:fld id="{F5587C6D-27DE-42DC-8259-BEC71FB1CA6A}" type="datetimeFigureOut">
              <a:rPr lang="zh-CN" altLang="en-US" smtClean="0"/>
              <a:t>2023/5/13</a:t>
            </a:fld>
            <a:endParaRPr lang="zh-CN" altLang="en-US"/>
          </a:p>
        </p:txBody>
      </p:sp>
      <p:sp>
        <p:nvSpPr>
          <p:cNvPr id="5" name="Footer Placeholder 4"/>
          <p:cNvSpPr>
            <a:spLocks noGrp="1"/>
          </p:cNvSpPr>
          <p:nvPr>
            <p:ph type="ftr" sz="quarter" idx="11"/>
          </p:nvPr>
        </p:nvSpPr>
        <p:spPr>
          <a:xfrm>
            <a:off x="4038600" y="6428068"/>
            <a:ext cx="4114800" cy="365125"/>
          </a:xfrm>
        </p:spPr>
        <p:txBody>
          <a:bodyPr/>
          <a:lstStyle/>
          <a:p>
            <a:endParaRPr lang="zh-CN" altLang="en-US"/>
          </a:p>
        </p:txBody>
      </p:sp>
    </p:spTree>
    <p:extLst>
      <p:ext uri="{BB962C8B-B14F-4D97-AF65-F5344CB8AC3E}">
        <p14:creationId xmlns:p14="http://schemas.microsoft.com/office/powerpoint/2010/main" val="2708236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1"/>
            <a:ext cx="10515600" cy="2852737"/>
          </a:xfrm>
        </p:spPr>
        <p:txBody>
          <a:bodyPr anchor="b"/>
          <a:lstStyle>
            <a:lvl1pPr>
              <a:defRPr sz="8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3200">
                <a:solidFill>
                  <a:schemeClr val="tx1">
                    <a:tint val="75000"/>
                  </a:schemeClr>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a:xfrm>
            <a:off x="831851" y="6428070"/>
            <a:ext cx="2743200" cy="365125"/>
          </a:xfrm>
        </p:spPr>
        <p:txBody>
          <a:bodyPr/>
          <a:lstStyle/>
          <a:p>
            <a:fld id="{F5587C6D-27DE-42DC-8259-BEC71FB1CA6A}" type="datetimeFigureOut">
              <a:rPr lang="zh-CN" altLang="en-US" smtClean="0"/>
              <a:t>2023/5/13</a:t>
            </a:fld>
            <a:endParaRPr lang="zh-CN" altLang="en-US"/>
          </a:p>
        </p:txBody>
      </p:sp>
      <p:sp>
        <p:nvSpPr>
          <p:cNvPr id="5" name="Footer Placeholder 4"/>
          <p:cNvSpPr>
            <a:spLocks noGrp="1"/>
          </p:cNvSpPr>
          <p:nvPr>
            <p:ph type="ftr" sz="quarter" idx="11"/>
          </p:nvPr>
        </p:nvSpPr>
        <p:spPr>
          <a:xfrm>
            <a:off x="4035425" y="6440676"/>
            <a:ext cx="4114800" cy="365125"/>
          </a:xfrm>
        </p:spPr>
        <p:txBody>
          <a:bodyPr/>
          <a:lstStyle/>
          <a:p>
            <a:endParaRPr lang="zh-CN" altLang="en-US"/>
          </a:p>
        </p:txBody>
      </p:sp>
    </p:spTree>
    <p:extLst>
      <p:ext uri="{BB962C8B-B14F-4D97-AF65-F5344CB8AC3E}">
        <p14:creationId xmlns:p14="http://schemas.microsoft.com/office/powerpoint/2010/main" val="36578229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838200" y="1120589"/>
            <a:ext cx="10515600" cy="570100"/>
          </a:xfrm>
        </p:spPr>
        <p:txBody>
          <a:bodyPr>
            <a:normAutofit/>
          </a:bodyPr>
          <a:lstStyle>
            <a:lvl1pPr>
              <a:defRPr sz="4267"/>
            </a:lvl1p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9"/>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9"/>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Date Placeholder 4"/>
          <p:cNvSpPr>
            <a:spLocks noGrp="1"/>
          </p:cNvSpPr>
          <p:nvPr>
            <p:ph type="dt" sz="half" idx="10"/>
          </p:nvPr>
        </p:nvSpPr>
        <p:spPr>
          <a:xfrm>
            <a:off x="838200" y="6463928"/>
            <a:ext cx="2743200" cy="365125"/>
          </a:xfrm>
        </p:spPr>
        <p:txBody>
          <a:bodyPr/>
          <a:lstStyle/>
          <a:p>
            <a:fld id="{F5587C6D-27DE-42DC-8259-BEC71FB1CA6A}" type="datetimeFigureOut">
              <a:rPr lang="zh-CN" altLang="en-US" smtClean="0"/>
              <a:t>2023/5/13</a:t>
            </a:fld>
            <a:endParaRPr lang="zh-CN" altLang="en-US"/>
          </a:p>
        </p:txBody>
      </p:sp>
      <p:sp>
        <p:nvSpPr>
          <p:cNvPr id="6" name="Footer Placeholder 5"/>
          <p:cNvSpPr>
            <a:spLocks noGrp="1"/>
          </p:cNvSpPr>
          <p:nvPr>
            <p:ph type="ftr" sz="quarter" idx="11"/>
          </p:nvPr>
        </p:nvSpPr>
        <p:spPr>
          <a:xfrm>
            <a:off x="4038600" y="6445999"/>
            <a:ext cx="4114800" cy="365125"/>
          </a:xfrm>
        </p:spPr>
        <p:txBody>
          <a:bodyPr/>
          <a:lstStyle/>
          <a:p>
            <a:endParaRPr lang="zh-CN" altLang="en-US"/>
          </a:p>
        </p:txBody>
      </p:sp>
    </p:spTree>
    <p:extLst>
      <p:ext uri="{BB962C8B-B14F-4D97-AF65-F5344CB8AC3E}">
        <p14:creationId xmlns:p14="http://schemas.microsoft.com/office/powerpoint/2010/main" val="1075646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8202" y="1138517"/>
            <a:ext cx="10517188" cy="552171"/>
          </a:xfrm>
        </p:spPr>
        <p:txBody>
          <a:bodyPr>
            <a:normAutofit/>
          </a:bodyPr>
          <a:lstStyle>
            <a:lvl1pPr>
              <a:defRPr sz="4267"/>
            </a:lvl1pPr>
          </a:lstStyle>
          <a:p>
            <a:r>
              <a:rPr lang="zh-CN" altLang="en-US"/>
              <a:t>单击此处编辑母版标题样式</a:t>
            </a:r>
            <a:endParaRPr lang="en-US" dirty="0"/>
          </a:p>
        </p:txBody>
      </p:sp>
      <p:sp>
        <p:nvSpPr>
          <p:cNvPr id="3" name="Text Placeholder 2"/>
          <p:cNvSpPr>
            <a:spLocks noGrp="1"/>
          </p:cNvSpPr>
          <p:nvPr>
            <p:ph type="body" idx="1"/>
          </p:nvPr>
        </p:nvSpPr>
        <p:spPr>
          <a:xfrm>
            <a:off x="838200" y="1936376"/>
            <a:ext cx="5159375" cy="568699"/>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zh-CN" altLang="en-US"/>
              <a:t>单击此处编辑母版文本样式</a:t>
            </a:r>
          </a:p>
        </p:txBody>
      </p:sp>
      <p:sp>
        <p:nvSpPr>
          <p:cNvPr id="4" name="Content Placeholder 3"/>
          <p:cNvSpPr>
            <a:spLocks noGrp="1"/>
          </p:cNvSpPr>
          <p:nvPr>
            <p:ph sz="half" idx="2"/>
          </p:nvPr>
        </p:nvSpPr>
        <p:spPr>
          <a:xfrm>
            <a:off x="839789"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2" y="1936375"/>
            <a:ext cx="5183188" cy="568700"/>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zh-CN" altLang="en-US"/>
              <a:t>单击此处编辑母版文本样式</a:t>
            </a:r>
          </a:p>
        </p:txBody>
      </p:sp>
      <p:sp>
        <p:nvSpPr>
          <p:cNvPr id="6" name="Content Placeholder 5"/>
          <p:cNvSpPr>
            <a:spLocks noGrp="1"/>
          </p:cNvSpPr>
          <p:nvPr>
            <p:ph sz="quarter" idx="4"/>
          </p:nvPr>
        </p:nvSpPr>
        <p:spPr>
          <a:xfrm>
            <a:off x="6172202"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a:xfrm>
            <a:off x="838200" y="6393239"/>
            <a:ext cx="2743200" cy="365125"/>
          </a:xfrm>
        </p:spPr>
        <p:txBody>
          <a:bodyPr/>
          <a:lstStyle/>
          <a:p>
            <a:fld id="{F5587C6D-27DE-42DC-8259-BEC71FB1CA6A}" type="datetimeFigureOut">
              <a:rPr lang="zh-CN" altLang="en-US" smtClean="0"/>
              <a:t>2023/5/13</a:t>
            </a:fld>
            <a:endParaRPr lang="zh-CN" altLang="en-US"/>
          </a:p>
        </p:txBody>
      </p:sp>
      <p:sp>
        <p:nvSpPr>
          <p:cNvPr id="8" name="Footer Placeholder 7"/>
          <p:cNvSpPr>
            <a:spLocks noGrp="1"/>
          </p:cNvSpPr>
          <p:nvPr>
            <p:ph type="ftr" sz="quarter" idx="11"/>
          </p:nvPr>
        </p:nvSpPr>
        <p:spPr>
          <a:xfrm>
            <a:off x="4011707" y="6393240"/>
            <a:ext cx="4114800" cy="365125"/>
          </a:xfrm>
        </p:spPr>
        <p:txBody>
          <a:bodyPr/>
          <a:lstStyle/>
          <a:p>
            <a:endParaRPr lang="zh-CN" altLang="en-US"/>
          </a:p>
        </p:txBody>
      </p:sp>
    </p:spTree>
    <p:extLst>
      <p:ext uri="{BB962C8B-B14F-4D97-AF65-F5344CB8AC3E}">
        <p14:creationId xmlns:p14="http://schemas.microsoft.com/office/powerpoint/2010/main" val="3202943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838200" y="1109197"/>
            <a:ext cx="10515600" cy="1325563"/>
          </a:xfrm>
        </p:spPr>
        <p:txBody>
          <a:bodyPr/>
          <a:lstStyle/>
          <a:p>
            <a:r>
              <a:rPr lang="zh-CN" altLang="en-US"/>
              <a:t>单击此处编辑母版标题样式</a:t>
            </a:r>
            <a:endParaRPr lang="en-US"/>
          </a:p>
        </p:txBody>
      </p:sp>
      <p:sp>
        <p:nvSpPr>
          <p:cNvPr id="3" name="Date Placeholder 2"/>
          <p:cNvSpPr>
            <a:spLocks noGrp="1"/>
          </p:cNvSpPr>
          <p:nvPr>
            <p:ph type="dt" sz="half" idx="10"/>
          </p:nvPr>
        </p:nvSpPr>
        <p:spPr>
          <a:xfrm>
            <a:off x="838200" y="6419104"/>
            <a:ext cx="2743200" cy="365125"/>
          </a:xfrm>
        </p:spPr>
        <p:txBody>
          <a:bodyPr/>
          <a:lstStyle/>
          <a:p>
            <a:fld id="{F5587C6D-27DE-42DC-8259-BEC71FB1CA6A}" type="datetimeFigureOut">
              <a:rPr lang="zh-CN" altLang="en-US" smtClean="0"/>
              <a:t>2023/5/13</a:t>
            </a:fld>
            <a:endParaRPr lang="zh-CN" altLang="en-US"/>
          </a:p>
        </p:txBody>
      </p:sp>
      <p:sp>
        <p:nvSpPr>
          <p:cNvPr id="4" name="Footer Placeholder 3"/>
          <p:cNvSpPr>
            <a:spLocks noGrp="1"/>
          </p:cNvSpPr>
          <p:nvPr>
            <p:ph type="ftr" sz="quarter" idx="11"/>
          </p:nvPr>
        </p:nvSpPr>
        <p:spPr>
          <a:xfrm>
            <a:off x="4038600" y="6419104"/>
            <a:ext cx="4114800" cy="365125"/>
          </a:xfrm>
        </p:spPr>
        <p:txBody>
          <a:bodyPr/>
          <a:lstStyle/>
          <a:p>
            <a:endParaRPr lang="zh-CN" altLang="en-US"/>
          </a:p>
        </p:txBody>
      </p:sp>
      <p:sp>
        <p:nvSpPr>
          <p:cNvPr id="5" name="Slide Number Placeholder 4"/>
          <p:cNvSpPr>
            <a:spLocks noGrp="1"/>
          </p:cNvSpPr>
          <p:nvPr>
            <p:ph type="sldNum" sz="quarter" idx="12"/>
          </p:nvPr>
        </p:nvSpPr>
        <p:spPr>
          <a:xfrm>
            <a:off x="8610600" y="6419104"/>
            <a:ext cx="2743200" cy="365125"/>
          </a:xfrm>
        </p:spPr>
        <p:txBody>
          <a:bodyPr/>
          <a:lstStyle/>
          <a:p>
            <a:fld id="{0AD82667-72BD-4D5F-94AE-4151A88ED847}" type="slidenum">
              <a:rPr lang="zh-CN" altLang="en-US" smtClean="0"/>
              <a:t>‹#›</a:t>
            </a:fld>
            <a:endParaRPr lang="zh-CN" altLang="en-US"/>
          </a:p>
        </p:txBody>
      </p:sp>
    </p:spTree>
    <p:extLst>
      <p:ext uri="{BB962C8B-B14F-4D97-AF65-F5344CB8AC3E}">
        <p14:creationId xmlns:p14="http://schemas.microsoft.com/office/powerpoint/2010/main" val="12717148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8202" y="1129554"/>
            <a:ext cx="3933825" cy="927847"/>
          </a:xfrm>
        </p:spPr>
        <p:txBody>
          <a:bodyPr anchor="b"/>
          <a:lstStyle>
            <a:lvl1pPr>
              <a:defRPr sz="4267"/>
            </a:lvl1pPr>
          </a:lstStyle>
          <a:p>
            <a:r>
              <a:rPr lang="zh-CN" altLang="en-US"/>
              <a:t>单击此处编辑母版标题样式</a:t>
            </a:r>
            <a:endParaRPr lang="en-US"/>
          </a:p>
        </p:txBody>
      </p:sp>
      <p:sp>
        <p:nvSpPr>
          <p:cNvPr id="3" name="Content Placeholder 2"/>
          <p:cNvSpPr>
            <a:spLocks noGrp="1"/>
          </p:cNvSpPr>
          <p:nvPr>
            <p:ph idx="1"/>
          </p:nvPr>
        </p:nvSpPr>
        <p:spPr>
          <a:xfrm>
            <a:off x="5181600" y="1129554"/>
            <a:ext cx="6172200" cy="4873625"/>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Text Placeholder 3"/>
          <p:cNvSpPr>
            <a:spLocks noGrp="1"/>
          </p:cNvSpPr>
          <p:nvPr>
            <p:ph type="body" sz="half" idx="2"/>
          </p:nvPr>
        </p:nvSpPr>
        <p:spPr>
          <a:xfrm>
            <a:off x="838200" y="2232212"/>
            <a:ext cx="3932237" cy="4022259"/>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zh-CN" altLang="en-US"/>
              <a:t>单击此处编辑母版文本样式</a:t>
            </a:r>
          </a:p>
        </p:txBody>
      </p:sp>
      <p:sp>
        <p:nvSpPr>
          <p:cNvPr id="5" name="Date Placeholder 4"/>
          <p:cNvSpPr>
            <a:spLocks noGrp="1"/>
          </p:cNvSpPr>
          <p:nvPr>
            <p:ph type="dt" sz="half" idx="10"/>
          </p:nvPr>
        </p:nvSpPr>
        <p:spPr>
          <a:xfrm>
            <a:off x="838200" y="6429284"/>
            <a:ext cx="2743200" cy="365125"/>
          </a:xfrm>
        </p:spPr>
        <p:txBody>
          <a:bodyPr/>
          <a:lstStyle/>
          <a:p>
            <a:fld id="{F5587C6D-27DE-42DC-8259-BEC71FB1CA6A}" type="datetimeFigureOut">
              <a:rPr lang="zh-CN" altLang="en-US" smtClean="0"/>
              <a:t>2023/5/13</a:t>
            </a:fld>
            <a:endParaRPr lang="zh-CN" altLang="en-US"/>
          </a:p>
        </p:txBody>
      </p:sp>
      <p:sp>
        <p:nvSpPr>
          <p:cNvPr id="6" name="Footer Placeholder 5"/>
          <p:cNvSpPr>
            <a:spLocks noGrp="1"/>
          </p:cNvSpPr>
          <p:nvPr>
            <p:ph type="ftr" sz="quarter" idx="11"/>
          </p:nvPr>
        </p:nvSpPr>
        <p:spPr>
          <a:xfrm>
            <a:off x="4056529" y="6429284"/>
            <a:ext cx="4114800" cy="365125"/>
          </a:xfrm>
        </p:spPr>
        <p:txBody>
          <a:bodyPr/>
          <a:lstStyle/>
          <a:p>
            <a:endParaRPr lang="zh-CN" altLang="en-US"/>
          </a:p>
        </p:txBody>
      </p:sp>
    </p:spTree>
    <p:extLst>
      <p:ext uri="{BB962C8B-B14F-4D97-AF65-F5344CB8AC3E}">
        <p14:creationId xmlns:p14="http://schemas.microsoft.com/office/powerpoint/2010/main" val="14965094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8202" y="1084730"/>
            <a:ext cx="3933825" cy="972671"/>
          </a:xfrm>
        </p:spPr>
        <p:txBody>
          <a:bodyPr anchor="b"/>
          <a:lstStyle>
            <a:lvl1pPr>
              <a:defRPr sz="4267"/>
            </a:lvl1pPr>
          </a:lstStyle>
          <a:p>
            <a:r>
              <a:rPr lang="zh-CN" altLang="en-US"/>
              <a:t>单击此处编辑母版标题样式</a:t>
            </a:r>
            <a:endParaRPr lang="en-US"/>
          </a:p>
        </p:txBody>
      </p:sp>
      <p:sp>
        <p:nvSpPr>
          <p:cNvPr id="3" name="Picture Placeholder 2"/>
          <p:cNvSpPr>
            <a:spLocks noGrp="1"/>
          </p:cNvSpPr>
          <p:nvPr>
            <p:ph type="pic" idx="1"/>
          </p:nvPr>
        </p:nvSpPr>
        <p:spPr>
          <a:xfrm>
            <a:off x="5360895" y="1308848"/>
            <a:ext cx="5994495" cy="4552203"/>
          </a:xfrm>
        </p:spPr>
        <p:txBody>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zh-CN" altLang="en-US"/>
              <a:t>单击图标添加图片</a:t>
            </a:r>
            <a:endParaRPr lang="en-US"/>
          </a:p>
        </p:txBody>
      </p:sp>
      <p:sp>
        <p:nvSpPr>
          <p:cNvPr id="4" name="Text Placeholder 3"/>
          <p:cNvSpPr>
            <a:spLocks noGrp="1"/>
          </p:cNvSpPr>
          <p:nvPr>
            <p:ph type="body" sz="half" idx="2"/>
          </p:nvPr>
        </p:nvSpPr>
        <p:spPr>
          <a:xfrm>
            <a:off x="838200" y="2371166"/>
            <a:ext cx="3932237" cy="3811588"/>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zh-CN" altLang="en-US"/>
              <a:t>单击此处编辑母版文本样式</a:t>
            </a:r>
          </a:p>
        </p:txBody>
      </p:sp>
      <p:sp>
        <p:nvSpPr>
          <p:cNvPr id="5" name="Date Placeholder 4"/>
          <p:cNvSpPr>
            <a:spLocks noGrp="1"/>
          </p:cNvSpPr>
          <p:nvPr>
            <p:ph type="dt" sz="half" idx="10"/>
          </p:nvPr>
        </p:nvSpPr>
        <p:spPr>
          <a:xfrm>
            <a:off x="838200" y="6437032"/>
            <a:ext cx="2743200" cy="365125"/>
          </a:xfrm>
        </p:spPr>
        <p:txBody>
          <a:bodyPr/>
          <a:lstStyle/>
          <a:p>
            <a:fld id="{F5587C6D-27DE-42DC-8259-BEC71FB1CA6A}" type="datetimeFigureOut">
              <a:rPr lang="zh-CN" altLang="en-US" smtClean="0"/>
              <a:t>2023/5/13</a:t>
            </a:fld>
            <a:endParaRPr lang="zh-CN" altLang="en-US"/>
          </a:p>
        </p:txBody>
      </p:sp>
      <p:sp>
        <p:nvSpPr>
          <p:cNvPr id="6" name="Footer Placeholder 5"/>
          <p:cNvSpPr>
            <a:spLocks noGrp="1"/>
          </p:cNvSpPr>
          <p:nvPr>
            <p:ph type="ftr" sz="quarter" idx="11"/>
          </p:nvPr>
        </p:nvSpPr>
        <p:spPr>
          <a:xfrm>
            <a:off x="4056531" y="6437034"/>
            <a:ext cx="4114800" cy="365125"/>
          </a:xfrm>
        </p:spPr>
        <p:txBody>
          <a:bodyPr/>
          <a:lstStyle/>
          <a:p>
            <a:endParaRPr lang="zh-CN" altLang="en-US"/>
          </a:p>
        </p:txBody>
      </p:sp>
    </p:spTree>
    <p:extLst>
      <p:ext uri="{BB962C8B-B14F-4D97-AF65-F5344CB8AC3E}">
        <p14:creationId xmlns:p14="http://schemas.microsoft.com/office/powerpoint/2010/main" val="70511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Text Placeholder 2"/>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F5587C6D-27DE-42DC-8259-BEC71FB1CA6A}" type="datetimeFigureOut">
              <a:rPr lang="zh-CN" altLang="en-US" smtClean="0"/>
              <a:t>2023/5/13</a:t>
            </a:fld>
            <a:endParaRPr lang="zh-CN" alt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0AD82667-72BD-4D5F-94AE-4151A88ED847}" type="slidenum">
              <a:rPr lang="zh-CN" altLang="en-US" smtClean="0"/>
              <a:t>‹#›</a:t>
            </a:fld>
            <a:endParaRPr lang="zh-CN" altLang="en-US"/>
          </a:p>
        </p:txBody>
      </p:sp>
      <p:pic>
        <p:nvPicPr>
          <p:cNvPr id="7" name="Picture 6"/>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0" y="-17929"/>
            <a:ext cx="12196133" cy="6875929"/>
          </a:xfrm>
          <a:prstGeom prst="rect">
            <a:avLst/>
          </a:prstGeom>
        </p:spPr>
      </p:pic>
    </p:spTree>
    <p:extLst>
      <p:ext uri="{BB962C8B-B14F-4D97-AF65-F5344CB8AC3E}">
        <p14:creationId xmlns:p14="http://schemas.microsoft.com/office/powerpoint/2010/main" val="20955641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Lst>
  <p:txStyles>
    <p:titleStyle>
      <a:lvl1pPr algn="l" defTabSz="1219170" rtl="0" eaLnBrk="1" latinLnBrk="0" hangingPunct="1">
        <a:lnSpc>
          <a:spcPct val="90000"/>
        </a:lnSpc>
        <a:spcBef>
          <a:spcPct val="0"/>
        </a:spcBef>
        <a:buNone/>
        <a:defRPr sz="5867" kern="1200">
          <a:solidFill>
            <a:schemeClr val="tx1"/>
          </a:solidFill>
          <a:latin typeface="+mj-lt"/>
          <a:ea typeface="+mj-ea"/>
          <a:cs typeface="+mj-cs"/>
        </a:defRPr>
      </a:lvl1pPr>
    </p:titleStyle>
    <p:bodyStyle>
      <a:lvl1pPr marL="304792" indent="-304792" algn="l" defTabSz="1219170" rtl="0" eaLnBrk="1" latinLnBrk="0" hangingPunct="1">
        <a:lnSpc>
          <a:spcPct val="90000"/>
        </a:lnSpc>
        <a:spcBef>
          <a:spcPts val="1333"/>
        </a:spcBef>
        <a:buFont typeface="Arial"/>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github.com/ailab-pku/PyMahjongGB" TargetMode="External"/><Relationship Id="rId2" Type="http://schemas.openxmlformats.org/officeDocument/2006/relationships/hyperlink" Target="https://wiki.botzone.org.cn/index.php?title=Chinese-Standard-Mahjong"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9C3CD2-3DA4-420D-8831-96D3DA261822}"/>
              </a:ext>
            </a:extLst>
          </p:cNvPr>
          <p:cNvSpPr>
            <a:spLocks noGrp="1"/>
          </p:cNvSpPr>
          <p:nvPr>
            <p:ph type="ctrTitle"/>
          </p:nvPr>
        </p:nvSpPr>
        <p:spPr>
          <a:xfrm>
            <a:off x="1524000" y="2384981"/>
            <a:ext cx="9144000" cy="1124982"/>
          </a:xfrm>
        </p:spPr>
        <p:txBody>
          <a:bodyPr>
            <a:normAutofit/>
          </a:bodyPr>
          <a:lstStyle/>
          <a:p>
            <a:r>
              <a:rPr lang="zh-CN" altLang="en-US" sz="5400" dirty="0"/>
              <a:t>国标麻将监督学习</a:t>
            </a:r>
          </a:p>
        </p:txBody>
      </p:sp>
      <p:sp>
        <p:nvSpPr>
          <p:cNvPr id="5" name="副标题 4">
            <a:extLst>
              <a:ext uri="{FF2B5EF4-FFF2-40B4-BE49-F238E27FC236}">
                <a16:creationId xmlns:a16="http://schemas.microsoft.com/office/drawing/2014/main" id="{068B7255-79EB-C62D-BACF-34683722CAF1}"/>
              </a:ext>
            </a:extLst>
          </p:cNvPr>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29291289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BCEA60-0AA6-401F-AE8F-48B6CC17615A}"/>
              </a:ext>
            </a:extLst>
          </p:cNvPr>
          <p:cNvSpPr>
            <a:spLocks noGrp="1"/>
          </p:cNvSpPr>
          <p:nvPr>
            <p:ph type="title"/>
          </p:nvPr>
        </p:nvSpPr>
        <p:spPr/>
        <p:txBody>
          <a:bodyPr>
            <a:normAutofit fontScale="90000"/>
          </a:bodyPr>
          <a:lstStyle/>
          <a:p>
            <a:r>
              <a:rPr lang="zh-CN" altLang="en-US" dirty="0"/>
              <a:t>目录</a:t>
            </a:r>
          </a:p>
        </p:txBody>
      </p:sp>
      <p:sp>
        <p:nvSpPr>
          <p:cNvPr id="3" name="内容占位符 2">
            <a:extLst>
              <a:ext uri="{FF2B5EF4-FFF2-40B4-BE49-F238E27FC236}">
                <a16:creationId xmlns:a16="http://schemas.microsoft.com/office/drawing/2014/main" id="{9C97D9BF-2FF5-41F9-B515-E4731C0B444B}"/>
              </a:ext>
            </a:extLst>
          </p:cNvPr>
          <p:cNvSpPr>
            <a:spLocks noGrp="1"/>
          </p:cNvSpPr>
          <p:nvPr>
            <p:ph idx="1"/>
          </p:nvPr>
        </p:nvSpPr>
        <p:spPr/>
        <p:txBody>
          <a:bodyPr/>
          <a:lstStyle/>
          <a:p>
            <a:r>
              <a:rPr lang="zh-CN" altLang="en-US" dirty="0"/>
              <a:t>专家数据</a:t>
            </a:r>
            <a:endParaRPr lang="en-US" altLang="zh-CN" dirty="0"/>
          </a:p>
          <a:p>
            <a:r>
              <a:rPr lang="en-US" altLang="zh-CN" dirty="0" err="1"/>
              <a:t>Botzone</a:t>
            </a:r>
            <a:r>
              <a:rPr lang="zh-CN" altLang="en-US" dirty="0"/>
              <a:t>交互</a:t>
            </a:r>
            <a:endParaRPr lang="en-US" altLang="zh-CN" dirty="0"/>
          </a:p>
          <a:p>
            <a:r>
              <a:rPr lang="zh-CN" altLang="en-US" dirty="0"/>
              <a:t>参考模型</a:t>
            </a:r>
            <a:endParaRPr lang="en-US" altLang="zh-CN" dirty="0"/>
          </a:p>
          <a:p>
            <a:r>
              <a:rPr lang="zh-CN" altLang="en-US" dirty="0"/>
              <a:t>示例代码</a:t>
            </a:r>
            <a:endParaRPr lang="en-US" altLang="zh-CN" dirty="0"/>
          </a:p>
          <a:p>
            <a:r>
              <a:rPr lang="zh-CN" altLang="en-US" dirty="0"/>
              <a:t>作业要求</a:t>
            </a:r>
          </a:p>
        </p:txBody>
      </p:sp>
    </p:spTree>
    <p:extLst>
      <p:ext uri="{BB962C8B-B14F-4D97-AF65-F5344CB8AC3E}">
        <p14:creationId xmlns:p14="http://schemas.microsoft.com/office/powerpoint/2010/main" val="39684401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74C107-65B9-4E0D-B279-E54C454FBE6A}"/>
              </a:ext>
            </a:extLst>
          </p:cNvPr>
          <p:cNvSpPr>
            <a:spLocks noGrp="1"/>
          </p:cNvSpPr>
          <p:nvPr>
            <p:ph type="title"/>
          </p:nvPr>
        </p:nvSpPr>
        <p:spPr/>
        <p:txBody>
          <a:bodyPr>
            <a:normAutofit fontScale="90000"/>
          </a:bodyPr>
          <a:lstStyle/>
          <a:p>
            <a:r>
              <a:rPr lang="zh-CN" altLang="en-US" dirty="0"/>
              <a:t>专家数据</a:t>
            </a:r>
          </a:p>
        </p:txBody>
      </p:sp>
      <p:sp>
        <p:nvSpPr>
          <p:cNvPr id="3" name="内容占位符 2">
            <a:extLst>
              <a:ext uri="{FF2B5EF4-FFF2-40B4-BE49-F238E27FC236}">
                <a16:creationId xmlns:a16="http://schemas.microsoft.com/office/drawing/2014/main" id="{15DE6F36-469B-492F-991C-DFA8C0AC8270}"/>
              </a:ext>
            </a:extLst>
          </p:cNvPr>
          <p:cNvSpPr>
            <a:spLocks noGrp="1"/>
          </p:cNvSpPr>
          <p:nvPr>
            <p:ph idx="1"/>
          </p:nvPr>
        </p:nvSpPr>
        <p:spPr/>
        <p:txBody>
          <a:bodyPr>
            <a:normAutofit/>
          </a:bodyPr>
          <a:lstStyle/>
          <a:p>
            <a:r>
              <a:rPr lang="zh-CN" altLang="en-US" sz="3200" dirty="0"/>
              <a:t>数据来源：</a:t>
            </a:r>
            <a:r>
              <a:rPr lang="en-US" altLang="zh-CN" sz="3200" dirty="0"/>
              <a:t>IJCAI2020</a:t>
            </a:r>
            <a:r>
              <a:rPr lang="zh-CN" altLang="en-US" sz="3200" dirty="0"/>
              <a:t>国标麻将比赛第一名</a:t>
            </a:r>
            <a:r>
              <a:rPr lang="en-US" altLang="zh-CN" sz="3200" dirty="0"/>
              <a:t>bot</a:t>
            </a:r>
            <a:r>
              <a:rPr lang="zh-CN" altLang="en-US" sz="3200" dirty="0"/>
              <a:t>自对弈</a:t>
            </a:r>
            <a:endParaRPr lang="en-US" altLang="zh-CN" sz="3200" dirty="0"/>
          </a:p>
          <a:p>
            <a:r>
              <a:rPr lang="zh-CN" altLang="en-US" sz="3200" dirty="0"/>
              <a:t>共</a:t>
            </a:r>
            <a:r>
              <a:rPr lang="en-US" altLang="zh-CN" sz="3200" dirty="0"/>
              <a:t>98209</a:t>
            </a:r>
            <a:r>
              <a:rPr lang="zh-CN" altLang="en-US" sz="3200" dirty="0"/>
              <a:t>局数据</a:t>
            </a:r>
            <a:endParaRPr lang="en-US" altLang="zh-CN" sz="3200" dirty="0"/>
          </a:p>
          <a:p>
            <a:endParaRPr lang="en-US" altLang="zh-CN" sz="3200" dirty="0"/>
          </a:p>
          <a:p>
            <a:r>
              <a:rPr lang="zh-CN" altLang="en-US" sz="3200" dirty="0"/>
              <a:t>包含三个文件：</a:t>
            </a:r>
            <a:endParaRPr lang="en-US" altLang="zh-CN" sz="3200" dirty="0"/>
          </a:p>
          <a:p>
            <a:pPr lvl="1"/>
            <a:r>
              <a:rPr lang="en-US" altLang="zh-CN" sz="2400" dirty="0"/>
              <a:t>data.txt	</a:t>
            </a:r>
            <a:r>
              <a:rPr lang="zh-CN" altLang="en-US" sz="2400" dirty="0"/>
              <a:t>全部的对局数据</a:t>
            </a:r>
            <a:endParaRPr lang="en-US" altLang="zh-CN" sz="2400" dirty="0"/>
          </a:p>
          <a:p>
            <a:pPr lvl="1"/>
            <a:r>
              <a:rPr lang="en-US" altLang="zh-CN" sz="2400" dirty="0"/>
              <a:t>sample.txt	</a:t>
            </a:r>
            <a:r>
              <a:rPr lang="zh-CN" altLang="en-US" sz="2400" dirty="0"/>
              <a:t>前</a:t>
            </a:r>
            <a:r>
              <a:rPr lang="en-US" altLang="zh-CN" sz="2400" dirty="0"/>
              <a:t>16</a:t>
            </a:r>
            <a:r>
              <a:rPr lang="zh-CN" altLang="en-US" sz="2400" dirty="0"/>
              <a:t>局的对局数据</a:t>
            </a:r>
            <a:endParaRPr lang="en-US" altLang="zh-CN" sz="2400" dirty="0"/>
          </a:p>
          <a:p>
            <a:pPr lvl="1"/>
            <a:r>
              <a:rPr lang="en-US" altLang="zh-CN" sz="2400" dirty="0"/>
              <a:t>README.txt	</a:t>
            </a:r>
            <a:r>
              <a:rPr lang="zh-CN" altLang="en-US" sz="2400" dirty="0"/>
              <a:t>数据格式的详细说明</a:t>
            </a:r>
          </a:p>
        </p:txBody>
      </p:sp>
    </p:spTree>
    <p:extLst>
      <p:ext uri="{BB962C8B-B14F-4D97-AF65-F5344CB8AC3E}">
        <p14:creationId xmlns:p14="http://schemas.microsoft.com/office/powerpoint/2010/main" val="5485462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C7AFDE-EF52-473C-8C5F-9FDE3DF901EC}"/>
              </a:ext>
            </a:extLst>
          </p:cNvPr>
          <p:cNvSpPr>
            <a:spLocks noGrp="1"/>
          </p:cNvSpPr>
          <p:nvPr>
            <p:ph type="title"/>
          </p:nvPr>
        </p:nvSpPr>
        <p:spPr/>
        <p:txBody>
          <a:bodyPr>
            <a:normAutofit fontScale="90000"/>
          </a:bodyPr>
          <a:lstStyle/>
          <a:p>
            <a:r>
              <a:rPr lang="zh-CN" altLang="en-US" dirty="0"/>
              <a:t>专家数据</a:t>
            </a:r>
          </a:p>
        </p:txBody>
      </p:sp>
      <p:sp>
        <p:nvSpPr>
          <p:cNvPr id="3" name="内容占位符 2">
            <a:extLst>
              <a:ext uri="{FF2B5EF4-FFF2-40B4-BE49-F238E27FC236}">
                <a16:creationId xmlns:a16="http://schemas.microsoft.com/office/drawing/2014/main" id="{2501D380-8E71-4315-A0C1-35BB9D9D934E}"/>
              </a:ext>
            </a:extLst>
          </p:cNvPr>
          <p:cNvSpPr>
            <a:spLocks noGrp="1"/>
          </p:cNvSpPr>
          <p:nvPr>
            <p:ph idx="1"/>
          </p:nvPr>
        </p:nvSpPr>
        <p:spPr/>
        <p:txBody>
          <a:bodyPr>
            <a:normAutofit/>
          </a:bodyPr>
          <a:lstStyle/>
          <a:p>
            <a:r>
              <a:rPr lang="zh-CN" altLang="en-US" sz="3200" dirty="0"/>
              <a:t>数据以事件序列的形式记录每一局的过程</a:t>
            </a:r>
            <a:endParaRPr lang="en-US" altLang="zh-CN" sz="3200" dirty="0"/>
          </a:p>
          <a:p>
            <a:endParaRPr lang="en-US" altLang="zh-CN" sz="3200" dirty="0"/>
          </a:p>
          <a:p>
            <a:r>
              <a:rPr lang="zh-CN" altLang="en-US" sz="3200" dirty="0"/>
              <a:t>数据处理：将整局的事件序列，整理成每个玩家视角下，轮到自己决策时的可见信息</a:t>
            </a:r>
            <a:r>
              <a:rPr lang="en-US" altLang="zh-CN" sz="3200" dirty="0"/>
              <a:t>-&gt;</a:t>
            </a:r>
            <a:r>
              <a:rPr lang="zh-CN" altLang="en-US" sz="3200" dirty="0"/>
              <a:t>动作选择</a:t>
            </a:r>
            <a:endParaRPr lang="en-US" altLang="zh-CN" sz="3200" dirty="0"/>
          </a:p>
          <a:p>
            <a:pPr lvl="1"/>
            <a:r>
              <a:rPr lang="zh-CN" altLang="en-US" sz="2400" dirty="0"/>
              <a:t>打牌的选择</a:t>
            </a:r>
            <a:endParaRPr lang="en-US" altLang="zh-CN" sz="2400" dirty="0"/>
          </a:p>
          <a:p>
            <a:pPr lvl="1"/>
            <a:r>
              <a:rPr lang="zh-CN" altLang="en-US" sz="2400" dirty="0"/>
              <a:t>是否吃</a:t>
            </a:r>
            <a:r>
              <a:rPr lang="en-US" altLang="zh-CN" sz="2400" dirty="0"/>
              <a:t>/</a:t>
            </a:r>
            <a:r>
              <a:rPr lang="zh-CN" altLang="en-US" sz="2400" dirty="0"/>
              <a:t>碰</a:t>
            </a:r>
            <a:r>
              <a:rPr lang="en-US" altLang="zh-CN" sz="2400" dirty="0"/>
              <a:t>/</a:t>
            </a:r>
            <a:r>
              <a:rPr lang="zh-CN" altLang="en-US" sz="2400" dirty="0"/>
              <a:t>杠</a:t>
            </a:r>
            <a:r>
              <a:rPr lang="en-US" altLang="zh-CN" sz="2400" dirty="0"/>
              <a:t>/</a:t>
            </a:r>
            <a:r>
              <a:rPr lang="zh-CN" altLang="en-US" sz="2400" dirty="0"/>
              <a:t>胡的选择</a:t>
            </a:r>
          </a:p>
        </p:txBody>
      </p:sp>
    </p:spTree>
    <p:extLst>
      <p:ext uri="{BB962C8B-B14F-4D97-AF65-F5344CB8AC3E}">
        <p14:creationId xmlns:p14="http://schemas.microsoft.com/office/powerpoint/2010/main" val="2479743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3405CD-70D8-4A69-9D29-D0E6359DA3F8}"/>
              </a:ext>
            </a:extLst>
          </p:cNvPr>
          <p:cNvSpPr>
            <a:spLocks noGrp="1"/>
          </p:cNvSpPr>
          <p:nvPr>
            <p:ph type="title"/>
          </p:nvPr>
        </p:nvSpPr>
        <p:spPr/>
        <p:txBody>
          <a:bodyPr>
            <a:normAutofit fontScale="90000"/>
          </a:bodyPr>
          <a:lstStyle/>
          <a:p>
            <a:r>
              <a:rPr lang="en-US" altLang="zh-CN" dirty="0" err="1"/>
              <a:t>Botzone</a:t>
            </a:r>
            <a:r>
              <a:rPr lang="zh-CN" altLang="en-US" dirty="0"/>
              <a:t>交互</a:t>
            </a:r>
          </a:p>
        </p:txBody>
      </p:sp>
      <p:sp>
        <p:nvSpPr>
          <p:cNvPr id="3" name="内容占位符 2">
            <a:extLst>
              <a:ext uri="{FF2B5EF4-FFF2-40B4-BE49-F238E27FC236}">
                <a16:creationId xmlns:a16="http://schemas.microsoft.com/office/drawing/2014/main" id="{61D003E9-24A0-4577-9B6D-CA4EA31ED6C4}"/>
              </a:ext>
            </a:extLst>
          </p:cNvPr>
          <p:cNvSpPr>
            <a:spLocks noGrp="1"/>
          </p:cNvSpPr>
          <p:nvPr>
            <p:ph idx="1"/>
          </p:nvPr>
        </p:nvSpPr>
        <p:spPr/>
        <p:txBody>
          <a:bodyPr>
            <a:normAutofit/>
          </a:bodyPr>
          <a:lstStyle/>
          <a:p>
            <a:r>
              <a:rPr lang="zh-CN" altLang="en-US" sz="3200" dirty="0"/>
              <a:t>麻将交互格式</a:t>
            </a:r>
            <a:endParaRPr lang="en-US" altLang="zh-CN" sz="3200" dirty="0"/>
          </a:p>
          <a:p>
            <a:pPr lvl="1"/>
            <a:r>
              <a:rPr lang="en-US" altLang="zh-CN" sz="2400" dirty="0">
                <a:hlinkClick r:id="rId2"/>
              </a:rPr>
              <a:t>https://wiki.botzone.org.cn/index.php?title=Chinese-Standard-Mahjong</a:t>
            </a:r>
            <a:endParaRPr lang="en-US" altLang="zh-CN" sz="2400" dirty="0"/>
          </a:p>
          <a:p>
            <a:r>
              <a:rPr lang="zh-CN" altLang="en-US" sz="3200" dirty="0"/>
              <a:t>算番库的安装和使用</a:t>
            </a:r>
            <a:endParaRPr lang="en-US" altLang="zh-CN" sz="3200" dirty="0"/>
          </a:p>
          <a:p>
            <a:pPr lvl="1"/>
            <a:r>
              <a:rPr lang="en-US" altLang="zh-CN" sz="2400" dirty="0">
                <a:hlinkClick r:id="rId3"/>
              </a:rPr>
              <a:t>https://github.com/ailab-pku/PyMahjongGB</a:t>
            </a:r>
            <a:endParaRPr lang="en-US" altLang="zh-CN" sz="2400" dirty="0"/>
          </a:p>
          <a:p>
            <a:r>
              <a:rPr lang="zh-CN" altLang="en-US" sz="3200" dirty="0"/>
              <a:t>上传</a:t>
            </a:r>
            <a:r>
              <a:rPr lang="en-US" altLang="zh-CN" sz="3200" dirty="0"/>
              <a:t>Python</a:t>
            </a:r>
            <a:r>
              <a:rPr lang="zh-CN" altLang="en-US" sz="3200" dirty="0"/>
              <a:t>多文件的</a:t>
            </a:r>
            <a:r>
              <a:rPr lang="en-US" altLang="zh-CN" sz="3200" dirty="0"/>
              <a:t>Bot</a:t>
            </a:r>
          </a:p>
          <a:p>
            <a:pPr lvl="1"/>
            <a:r>
              <a:rPr lang="zh-CN" altLang="en-US" sz="2400" dirty="0"/>
              <a:t>将多文件打包成单个</a:t>
            </a:r>
            <a:r>
              <a:rPr lang="en-US" altLang="zh-CN" sz="2400" dirty="0"/>
              <a:t>zip</a:t>
            </a:r>
            <a:r>
              <a:rPr lang="zh-CN" altLang="en-US" sz="2400" dirty="0"/>
              <a:t>，实际运行</a:t>
            </a:r>
            <a:r>
              <a:rPr lang="en-US" altLang="zh-CN" sz="2400" dirty="0"/>
              <a:t>__main__.py</a:t>
            </a:r>
          </a:p>
          <a:p>
            <a:r>
              <a:rPr lang="zh-CN" altLang="en-US" sz="3200" dirty="0"/>
              <a:t>参数文件</a:t>
            </a:r>
            <a:endParaRPr lang="en-US" altLang="zh-CN" sz="3200" dirty="0"/>
          </a:p>
          <a:p>
            <a:pPr lvl="1"/>
            <a:r>
              <a:rPr lang="zh-CN" altLang="en-US" sz="2667" dirty="0"/>
              <a:t>管理存储空间</a:t>
            </a:r>
            <a:r>
              <a:rPr lang="en-US" altLang="zh-CN" sz="2667" dirty="0"/>
              <a:t>-</a:t>
            </a:r>
            <a:r>
              <a:rPr lang="zh-CN" altLang="en-US" sz="2667" dirty="0"/>
              <a:t>上传文件，</a:t>
            </a:r>
            <a:r>
              <a:rPr lang="en-US" altLang="zh-CN" sz="2667" dirty="0"/>
              <a:t>bot</a:t>
            </a:r>
            <a:r>
              <a:rPr lang="zh-CN" altLang="en-US" sz="2667" dirty="0"/>
              <a:t>运行时从</a:t>
            </a:r>
            <a:r>
              <a:rPr lang="en-US" altLang="zh-CN" sz="2667" dirty="0"/>
              <a:t>data/</a:t>
            </a:r>
            <a:r>
              <a:rPr lang="zh-CN" altLang="en-US" sz="2667" dirty="0"/>
              <a:t>下访问</a:t>
            </a:r>
          </a:p>
        </p:txBody>
      </p:sp>
    </p:spTree>
    <p:extLst>
      <p:ext uri="{BB962C8B-B14F-4D97-AF65-F5344CB8AC3E}">
        <p14:creationId xmlns:p14="http://schemas.microsoft.com/office/powerpoint/2010/main" val="30224697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参考模型：</a:t>
            </a:r>
            <a:r>
              <a:rPr lang="en-US" altLang="zh-CN" dirty="0"/>
              <a:t>IJCAI</a:t>
            </a:r>
            <a:r>
              <a:rPr lang="zh-CN" altLang="en-US" dirty="0"/>
              <a:t>比赛第四名</a:t>
            </a:r>
          </a:p>
        </p:txBody>
      </p:sp>
      <p:sp>
        <p:nvSpPr>
          <p:cNvPr id="3" name="内容占位符 2"/>
          <p:cNvSpPr>
            <a:spLocks noGrp="1"/>
          </p:cNvSpPr>
          <p:nvPr>
            <p:ph idx="1"/>
          </p:nvPr>
        </p:nvSpPr>
        <p:spPr/>
        <p:txBody>
          <a:bodyPr>
            <a:normAutofit/>
          </a:bodyPr>
          <a:lstStyle/>
          <a:p>
            <a:r>
              <a:rPr lang="zh-CN" altLang="en-US" sz="2800" dirty="0"/>
              <a:t>中科大团队，纯监督学习</a:t>
            </a:r>
            <a:endParaRPr lang="en-US" altLang="zh-CN" sz="2800" dirty="0"/>
          </a:p>
          <a:p>
            <a:pPr>
              <a:buNone/>
            </a:pPr>
            <a:endParaRPr lang="en-US" altLang="zh-CN" sz="2800" dirty="0"/>
          </a:p>
          <a:p>
            <a:r>
              <a:rPr lang="zh-CN" altLang="en-US" sz="2800" dirty="0"/>
              <a:t>状态空间</a:t>
            </a:r>
            <a:r>
              <a:rPr lang="en-US" altLang="zh-CN" sz="2800" dirty="0"/>
              <a:t>4</a:t>
            </a:r>
            <a:r>
              <a:rPr lang="zh-CN" altLang="en-US" sz="2800" dirty="0"/>
              <a:t>*</a:t>
            </a:r>
            <a:r>
              <a:rPr lang="en-US" altLang="zh-CN" sz="2800" dirty="0"/>
              <a:t>9</a:t>
            </a:r>
            <a:r>
              <a:rPr lang="zh-CN" altLang="en-US" sz="2800" dirty="0"/>
              <a:t>*</a:t>
            </a:r>
            <a:r>
              <a:rPr lang="en-US" altLang="zh-CN" sz="2800" dirty="0"/>
              <a:t>145</a:t>
            </a:r>
            <a:r>
              <a:rPr lang="zh-CN" altLang="en-US" sz="2800" dirty="0"/>
              <a:t>，</a:t>
            </a:r>
            <a:r>
              <a:rPr lang="en-US" altLang="zh-CN" sz="2800" dirty="0"/>
              <a:t>4*9</a:t>
            </a:r>
            <a:r>
              <a:rPr lang="zh-CN" altLang="en-US" sz="2800" dirty="0"/>
              <a:t>表示牌</a:t>
            </a:r>
            <a:endParaRPr lang="en-US" altLang="zh-CN" sz="2800" dirty="0"/>
          </a:p>
          <a:p>
            <a:r>
              <a:rPr lang="en-US" altLang="zh-CN" sz="2800" dirty="0"/>
              <a:t>145</a:t>
            </a:r>
            <a:r>
              <a:rPr lang="zh-CN" altLang="en-US" sz="2800" dirty="0"/>
              <a:t>通道</a:t>
            </a:r>
            <a:r>
              <a:rPr lang="en-US" altLang="zh-CN" sz="2800" dirty="0"/>
              <a:t>=</a:t>
            </a:r>
            <a:r>
              <a:rPr lang="zh-CN" altLang="en-US" sz="2800" dirty="0"/>
              <a:t>自己手牌</a:t>
            </a:r>
            <a:r>
              <a:rPr lang="en-US" altLang="zh-CN" sz="2800" dirty="0"/>
              <a:t>4+</a:t>
            </a:r>
            <a:r>
              <a:rPr lang="zh-CN" altLang="en-US" sz="2800" dirty="0"/>
              <a:t>每个人</a:t>
            </a:r>
            <a:r>
              <a:rPr lang="en-US" altLang="zh-CN" sz="2800" dirty="0"/>
              <a:t>(</a:t>
            </a:r>
            <a:r>
              <a:rPr lang="zh-CN" altLang="en-US" sz="2800" dirty="0"/>
              <a:t>吃</a:t>
            </a:r>
            <a:r>
              <a:rPr lang="en-US" altLang="zh-CN" sz="2800" dirty="0"/>
              <a:t>4+</a:t>
            </a:r>
            <a:r>
              <a:rPr lang="zh-CN" altLang="en-US" sz="2800" dirty="0"/>
              <a:t>碰</a:t>
            </a:r>
            <a:r>
              <a:rPr lang="en-US" altLang="zh-CN" sz="2800" dirty="0"/>
              <a:t>1+</a:t>
            </a:r>
            <a:r>
              <a:rPr lang="zh-CN" altLang="en-US" sz="2800" dirty="0"/>
              <a:t>杠</a:t>
            </a:r>
            <a:r>
              <a:rPr lang="en-US" altLang="zh-CN" sz="2800" dirty="0"/>
              <a:t>1)*4+</a:t>
            </a:r>
            <a:r>
              <a:rPr lang="zh-CN" altLang="en-US" sz="2800" dirty="0"/>
              <a:t>自己暗杠</a:t>
            </a:r>
            <a:r>
              <a:rPr lang="en-US" altLang="zh-CN" sz="2800" dirty="0"/>
              <a:t>1+</a:t>
            </a:r>
            <a:r>
              <a:rPr lang="zh-CN" altLang="en-US" sz="2800" dirty="0"/>
              <a:t>每个人弃牌历史</a:t>
            </a:r>
            <a:r>
              <a:rPr lang="en-US" altLang="zh-CN" sz="2800" dirty="0"/>
              <a:t>28</a:t>
            </a:r>
            <a:r>
              <a:rPr lang="zh-CN" altLang="en-US" sz="2800" dirty="0"/>
              <a:t>*</a:t>
            </a:r>
            <a:r>
              <a:rPr lang="en-US" altLang="zh-CN" sz="2800" dirty="0"/>
              <a:t>4+</a:t>
            </a:r>
            <a:r>
              <a:rPr lang="zh-CN" altLang="en-US" sz="2800"/>
              <a:t>剩余牌</a:t>
            </a:r>
            <a:r>
              <a:rPr lang="en-US" altLang="zh-CN" sz="2800"/>
              <a:t>4</a:t>
            </a:r>
            <a:endParaRPr lang="zh-CN" altLang="en-US" sz="2800" dirty="0"/>
          </a:p>
        </p:txBody>
      </p:sp>
      <p:pic>
        <p:nvPicPr>
          <p:cNvPr id="1026" name="Picture 2"/>
          <p:cNvPicPr>
            <a:picLocks noChangeAspect="1" noChangeArrowheads="1"/>
          </p:cNvPicPr>
          <p:nvPr/>
        </p:nvPicPr>
        <p:blipFill>
          <a:blip r:embed="rId2" cstate="print"/>
          <a:srcRect/>
          <a:stretch>
            <a:fillRect/>
          </a:stretch>
        </p:blipFill>
        <p:spPr bwMode="auto">
          <a:xfrm>
            <a:off x="2735627" y="4293097"/>
            <a:ext cx="6451600" cy="201930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IJCAI</a:t>
            </a:r>
            <a:r>
              <a:rPr lang="zh-CN" altLang="en-US" dirty="0"/>
              <a:t>比赛第四名</a:t>
            </a:r>
          </a:p>
        </p:txBody>
      </p:sp>
      <p:sp>
        <p:nvSpPr>
          <p:cNvPr id="3" name="内容占位符 2"/>
          <p:cNvSpPr>
            <a:spLocks noGrp="1"/>
          </p:cNvSpPr>
          <p:nvPr>
            <p:ph idx="1"/>
          </p:nvPr>
        </p:nvSpPr>
        <p:spPr/>
        <p:txBody>
          <a:bodyPr>
            <a:normAutofit/>
          </a:bodyPr>
          <a:lstStyle/>
          <a:p>
            <a:r>
              <a:rPr lang="zh-CN" altLang="en-US" sz="2800" dirty="0"/>
              <a:t>动作空间</a:t>
            </a:r>
            <a:r>
              <a:rPr lang="en-US" altLang="zh-CN" sz="2800" dirty="0"/>
              <a:t>235</a:t>
            </a:r>
            <a:r>
              <a:rPr lang="zh-CN" altLang="en-US" sz="2800" dirty="0"/>
              <a:t>维</a:t>
            </a:r>
            <a:endParaRPr lang="en-US" altLang="zh-CN" sz="2800" dirty="0"/>
          </a:p>
          <a:p>
            <a:r>
              <a:rPr lang="zh-CN" altLang="en-US" sz="2800" dirty="0"/>
              <a:t>过</a:t>
            </a:r>
            <a:r>
              <a:rPr lang="en-US" altLang="zh-CN" sz="2800" dirty="0"/>
              <a:t>1+</a:t>
            </a:r>
            <a:r>
              <a:rPr lang="zh-CN" altLang="en-US" sz="2800" dirty="0"/>
              <a:t>胡</a:t>
            </a:r>
            <a:r>
              <a:rPr lang="en-US" altLang="zh-CN" sz="2800" dirty="0"/>
              <a:t>1+</a:t>
            </a:r>
            <a:r>
              <a:rPr lang="zh-CN" altLang="en-US" sz="2800" dirty="0"/>
              <a:t>弃牌</a:t>
            </a:r>
            <a:r>
              <a:rPr lang="en-US" altLang="zh-CN" sz="2800" dirty="0"/>
              <a:t>34+</a:t>
            </a:r>
            <a:r>
              <a:rPr lang="zh-CN" altLang="en-US" sz="2800" dirty="0"/>
              <a:t>明杠</a:t>
            </a:r>
            <a:r>
              <a:rPr lang="en-US" altLang="zh-CN" sz="2800" dirty="0"/>
              <a:t>34+</a:t>
            </a:r>
            <a:r>
              <a:rPr lang="zh-CN" altLang="en-US" sz="2800" dirty="0"/>
              <a:t>暗杠</a:t>
            </a:r>
            <a:r>
              <a:rPr lang="en-US" altLang="zh-CN" sz="2800" dirty="0"/>
              <a:t>34+</a:t>
            </a:r>
            <a:r>
              <a:rPr lang="zh-CN" altLang="en-US" sz="2800" dirty="0"/>
              <a:t>补杠</a:t>
            </a:r>
            <a:r>
              <a:rPr lang="en-US" altLang="zh-CN" sz="2800" dirty="0"/>
              <a:t>34</a:t>
            </a:r>
          </a:p>
          <a:p>
            <a:r>
              <a:rPr lang="en-US" altLang="zh-CN" sz="2800" dirty="0"/>
              <a:t>+</a:t>
            </a:r>
            <a:r>
              <a:rPr lang="zh-CN" altLang="en-US" sz="2800" dirty="0"/>
              <a:t>碰牌</a:t>
            </a:r>
            <a:r>
              <a:rPr lang="en-US" altLang="zh-CN" sz="2800" dirty="0"/>
              <a:t>34+</a:t>
            </a:r>
            <a:r>
              <a:rPr lang="zh-CN" altLang="en-US" sz="2800" dirty="0"/>
              <a:t>吃牌</a:t>
            </a:r>
            <a:r>
              <a:rPr lang="en-US" altLang="zh-CN" sz="2800" dirty="0"/>
              <a:t>63</a:t>
            </a:r>
          </a:p>
          <a:p>
            <a:endParaRPr lang="en-US" altLang="zh-CN" sz="2800" dirty="0"/>
          </a:p>
          <a:p>
            <a:r>
              <a:rPr lang="zh-CN" altLang="en-US" sz="2800" dirty="0"/>
              <a:t>吃牌：花色</a:t>
            </a:r>
            <a:r>
              <a:rPr lang="en-US" altLang="zh-CN" sz="2800" dirty="0"/>
              <a:t>3</a:t>
            </a:r>
            <a:r>
              <a:rPr lang="zh-CN" altLang="en-US" sz="2800" dirty="0"/>
              <a:t>*中心牌</a:t>
            </a:r>
            <a:r>
              <a:rPr lang="en-US" altLang="zh-CN" sz="2800" dirty="0"/>
              <a:t>7</a:t>
            </a:r>
            <a:r>
              <a:rPr lang="zh-CN" altLang="en-US" sz="2800" dirty="0"/>
              <a:t>*吃第几张</a:t>
            </a:r>
            <a:r>
              <a:rPr lang="en-US" altLang="zh-CN" sz="2800" dirty="0"/>
              <a:t>3</a:t>
            </a:r>
            <a:endParaRPr lang="zh-CN" altLang="en-US" sz="2800" dirty="0"/>
          </a:p>
        </p:txBody>
      </p:sp>
      <p:pic>
        <p:nvPicPr>
          <p:cNvPr id="2050" name="Picture 2"/>
          <p:cNvPicPr>
            <a:picLocks noChangeAspect="1" noChangeArrowheads="1"/>
          </p:cNvPicPr>
          <p:nvPr/>
        </p:nvPicPr>
        <p:blipFill>
          <a:blip r:embed="rId2" cstate="print"/>
          <a:srcRect/>
          <a:stretch>
            <a:fillRect/>
          </a:stretch>
        </p:blipFill>
        <p:spPr bwMode="auto">
          <a:xfrm>
            <a:off x="7824192" y="1124745"/>
            <a:ext cx="3875040" cy="5177103"/>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IJCAI</a:t>
            </a:r>
            <a:r>
              <a:rPr lang="zh-CN" altLang="en-US" dirty="0"/>
              <a:t>比赛第四名</a:t>
            </a:r>
          </a:p>
        </p:txBody>
      </p:sp>
      <p:sp>
        <p:nvSpPr>
          <p:cNvPr id="3" name="内容占位符 2"/>
          <p:cNvSpPr>
            <a:spLocks noGrp="1"/>
          </p:cNvSpPr>
          <p:nvPr>
            <p:ph idx="1"/>
          </p:nvPr>
        </p:nvSpPr>
        <p:spPr>
          <a:xfrm>
            <a:off x="838200" y="1825625"/>
            <a:ext cx="11114451" cy="4351339"/>
          </a:xfrm>
        </p:spPr>
        <p:txBody>
          <a:bodyPr>
            <a:normAutofit/>
          </a:bodyPr>
          <a:lstStyle/>
          <a:p>
            <a:r>
              <a:rPr lang="zh-CN" altLang="en-US" sz="2667" dirty="0"/>
              <a:t>网络结构</a:t>
            </a:r>
            <a:endParaRPr lang="en-US" altLang="zh-CN" sz="2667" dirty="0"/>
          </a:p>
          <a:p>
            <a:endParaRPr lang="en-US" altLang="zh-CN" sz="2667" dirty="0"/>
          </a:p>
          <a:p>
            <a:endParaRPr lang="en-US" altLang="zh-CN" sz="2667" dirty="0"/>
          </a:p>
          <a:p>
            <a:endParaRPr lang="en-US" altLang="zh-CN" sz="2667" dirty="0"/>
          </a:p>
          <a:p>
            <a:endParaRPr lang="en-US" altLang="zh-CN" sz="2667" dirty="0"/>
          </a:p>
          <a:p>
            <a:endParaRPr lang="en-US" altLang="zh-CN" sz="2667" dirty="0"/>
          </a:p>
          <a:p>
            <a:r>
              <a:rPr lang="en-US" altLang="zh-CN" sz="2667" dirty="0"/>
              <a:t>x-&gt;conv3*3c128-&gt;conv3*3c64-&gt;BN-&gt;</a:t>
            </a:r>
            <a:r>
              <a:rPr lang="en-US" altLang="zh-CN" sz="2667" dirty="0" err="1"/>
              <a:t>relu</a:t>
            </a:r>
            <a:r>
              <a:rPr lang="en-US" altLang="zh-CN" sz="2667" dirty="0"/>
              <a:t>-&gt;</a:t>
            </a:r>
            <a:r>
              <a:rPr lang="en-US" altLang="zh-CN" sz="2667" dirty="0" err="1"/>
              <a:t>ResBlock</a:t>
            </a:r>
            <a:r>
              <a:rPr lang="en-US" altLang="zh-CN" sz="2667" dirty="0"/>
              <a:t>*9-&gt;flatten-&gt;fc235</a:t>
            </a:r>
          </a:p>
          <a:p>
            <a:r>
              <a:rPr lang="zh-CN" altLang="en-US" sz="2667" dirty="0"/>
              <a:t>其中</a:t>
            </a:r>
            <a:r>
              <a:rPr lang="en-US" altLang="zh-CN" sz="2667" dirty="0" err="1"/>
              <a:t>ResBlock</a:t>
            </a:r>
            <a:r>
              <a:rPr lang="zh-CN" altLang="en-US" sz="2667" dirty="0"/>
              <a:t>：</a:t>
            </a:r>
            <a:r>
              <a:rPr lang="en-US" altLang="zh-CN" sz="2667" dirty="0"/>
              <a:t>x-&gt;conv3*3c64-&gt;BN-&gt;</a:t>
            </a:r>
            <a:r>
              <a:rPr lang="en-US" altLang="zh-CN" sz="2667" dirty="0" err="1"/>
              <a:t>relu</a:t>
            </a:r>
            <a:r>
              <a:rPr lang="en-US" altLang="zh-CN" sz="2667" dirty="0"/>
              <a:t>-&gt;conv3*3c64-&gt;BN-&gt;+x-&gt;</a:t>
            </a:r>
            <a:r>
              <a:rPr lang="en-US" altLang="zh-CN" sz="2667" dirty="0" err="1"/>
              <a:t>relu</a:t>
            </a:r>
            <a:endParaRPr lang="zh-CN" altLang="en-US" sz="2667" dirty="0"/>
          </a:p>
        </p:txBody>
      </p:sp>
      <p:pic>
        <p:nvPicPr>
          <p:cNvPr id="3074" name="Picture 2"/>
          <p:cNvPicPr>
            <a:picLocks noChangeAspect="1" noChangeArrowheads="1"/>
          </p:cNvPicPr>
          <p:nvPr/>
        </p:nvPicPr>
        <p:blipFill>
          <a:blip r:embed="rId2" cstate="print"/>
          <a:srcRect/>
          <a:stretch>
            <a:fillRect/>
          </a:stretch>
        </p:blipFill>
        <p:spPr bwMode="auto">
          <a:xfrm>
            <a:off x="4553146" y="1433323"/>
            <a:ext cx="7350822" cy="3300915"/>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IJCAI</a:t>
            </a:r>
            <a:r>
              <a:rPr lang="zh-CN" altLang="en-US" dirty="0"/>
              <a:t>比赛第四名</a:t>
            </a:r>
          </a:p>
        </p:txBody>
      </p:sp>
      <p:sp>
        <p:nvSpPr>
          <p:cNvPr id="3" name="内容占位符 2"/>
          <p:cNvSpPr>
            <a:spLocks noGrp="1"/>
          </p:cNvSpPr>
          <p:nvPr>
            <p:ph idx="1"/>
          </p:nvPr>
        </p:nvSpPr>
        <p:spPr/>
        <p:txBody>
          <a:bodyPr>
            <a:normAutofit/>
          </a:bodyPr>
          <a:lstStyle/>
          <a:p>
            <a:r>
              <a:rPr lang="zh-CN" altLang="en-US" sz="2800" dirty="0"/>
              <a:t>数据增强：</a:t>
            </a:r>
            <a:endParaRPr lang="en-US" altLang="zh-CN" sz="2800" dirty="0"/>
          </a:p>
          <a:p>
            <a:endParaRPr lang="en-US" altLang="zh-CN" sz="2800" dirty="0"/>
          </a:p>
          <a:p>
            <a:r>
              <a:rPr lang="zh-CN" altLang="en-US" sz="2800" dirty="0"/>
              <a:t>对于原数据</a:t>
            </a:r>
            <a:endParaRPr lang="en-US" altLang="zh-CN" sz="2800" dirty="0"/>
          </a:p>
          <a:p>
            <a:r>
              <a:rPr lang="zh-CN" altLang="en-US" sz="2800" dirty="0"/>
              <a:t>（</a:t>
            </a:r>
            <a:r>
              <a:rPr lang="en-US" altLang="zh-CN" sz="2800" dirty="0"/>
              <a:t>1</a:t>
            </a:r>
            <a:r>
              <a:rPr lang="zh-CN" altLang="en-US" sz="2800" dirty="0"/>
              <a:t>）将万条筒互换</a:t>
            </a:r>
            <a:endParaRPr lang="en-US" altLang="zh-CN" sz="2800" dirty="0"/>
          </a:p>
          <a:p>
            <a:r>
              <a:rPr lang="zh-CN" altLang="en-US" sz="2800" dirty="0"/>
              <a:t>（</a:t>
            </a:r>
            <a:r>
              <a:rPr lang="en-US" altLang="zh-CN" sz="2800" dirty="0"/>
              <a:t>2</a:t>
            </a:r>
            <a:r>
              <a:rPr lang="zh-CN" altLang="en-US" sz="2800" dirty="0"/>
              <a:t>）将</a:t>
            </a:r>
            <a:r>
              <a:rPr lang="en-US" altLang="zh-CN" sz="2800" dirty="0"/>
              <a:t>19,28,37,46</a:t>
            </a:r>
            <a:r>
              <a:rPr lang="zh-CN" altLang="en-US" sz="2800" dirty="0"/>
              <a:t>互换</a:t>
            </a:r>
            <a:endParaRPr lang="en-US" altLang="zh-CN" sz="2800" dirty="0"/>
          </a:p>
          <a:p>
            <a:endParaRPr lang="en-US" altLang="zh-CN" sz="2800" dirty="0"/>
          </a:p>
          <a:p>
            <a:r>
              <a:rPr lang="zh-CN" altLang="en-US" sz="2800" dirty="0"/>
              <a:t>在绝大多数情况下不影响决策（除了推不倒、绿一色等特殊番型）</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B77C53-D3AC-42D0-AD34-0BB10EAB44BE}"/>
              </a:ext>
            </a:extLst>
          </p:cNvPr>
          <p:cNvSpPr>
            <a:spLocks noGrp="1"/>
          </p:cNvSpPr>
          <p:nvPr>
            <p:ph type="title"/>
          </p:nvPr>
        </p:nvSpPr>
        <p:spPr/>
        <p:txBody>
          <a:bodyPr>
            <a:normAutofit fontScale="90000"/>
          </a:bodyPr>
          <a:lstStyle/>
          <a:p>
            <a:r>
              <a:rPr lang="zh-CN" altLang="en-US" dirty="0"/>
              <a:t>示例代码</a:t>
            </a:r>
          </a:p>
        </p:txBody>
      </p:sp>
      <p:sp>
        <p:nvSpPr>
          <p:cNvPr id="3" name="内容占位符 2">
            <a:extLst>
              <a:ext uri="{FF2B5EF4-FFF2-40B4-BE49-F238E27FC236}">
                <a16:creationId xmlns:a16="http://schemas.microsoft.com/office/drawing/2014/main" id="{2E41028F-9D51-4BBB-97A3-3E4C73F4F774}"/>
              </a:ext>
            </a:extLst>
          </p:cNvPr>
          <p:cNvSpPr>
            <a:spLocks noGrp="1"/>
          </p:cNvSpPr>
          <p:nvPr>
            <p:ph idx="1"/>
          </p:nvPr>
        </p:nvSpPr>
        <p:spPr/>
        <p:txBody>
          <a:bodyPr>
            <a:normAutofit/>
          </a:bodyPr>
          <a:lstStyle/>
          <a:p>
            <a:r>
              <a:rPr lang="zh-CN" altLang="en-US" sz="3200" dirty="0"/>
              <a:t>为了避免把时间花在麻将规则和输入输出处理上，我们提供一套示例代码，包括对数据的处理、监督学习训练以及可提交的</a:t>
            </a:r>
            <a:r>
              <a:rPr lang="en-US" altLang="zh-CN" sz="3200" dirty="0"/>
              <a:t>Bot</a:t>
            </a:r>
            <a:r>
              <a:rPr lang="zh-CN" altLang="en-US" sz="3200" dirty="0"/>
              <a:t>部分</a:t>
            </a:r>
          </a:p>
        </p:txBody>
      </p:sp>
    </p:spTree>
    <p:extLst>
      <p:ext uri="{BB962C8B-B14F-4D97-AF65-F5344CB8AC3E}">
        <p14:creationId xmlns:p14="http://schemas.microsoft.com/office/powerpoint/2010/main" val="25562226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DFEA0F-B725-458F-A566-403946951B30}"/>
              </a:ext>
            </a:extLst>
          </p:cNvPr>
          <p:cNvSpPr>
            <a:spLocks noGrp="1"/>
          </p:cNvSpPr>
          <p:nvPr>
            <p:ph type="title"/>
          </p:nvPr>
        </p:nvSpPr>
        <p:spPr/>
        <p:txBody>
          <a:bodyPr>
            <a:normAutofit fontScale="90000"/>
          </a:bodyPr>
          <a:lstStyle/>
          <a:p>
            <a:r>
              <a:rPr lang="zh-CN" altLang="en-US" dirty="0"/>
              <a:t>代码结构</a:t>
            </a:r>
          </a:p>
        </p:txBody>
      </p:sp>
      <p:sp>
        <p:nvSpPr>
          <p:cNvPr id="3" name="内容占位符 2">
            <a:extLst>
              <a:ext uri="{FF2B5EF4-FFF2-40B4-BE49-F238E27FC236}">
                <a16:creationId xmlns:a16="http://schemas.microsoft.com/office/drawing/2014/main" id="{8A39BDF6-2622-499B-9542-0E095A455980}"/>
              </a:ext>
            </a:extLst>
          </p:cNvPr>
          <p:cNvSpPr>
            <a:spLocks noGrp="1"/>
          </p:cNvSpPr>
          <p:nvPr>
            <p:ph idx="1"/>
          </p:nvPr>
        </p:nvSpPr>
        <p:spPr/>
        <p:txBody>
          <a:bodyPr/>
          <a:lstStyle/>
          <a:p>
            <a:r>
              <a:rPr lang="en-US" altLang="zh-CN" dirty="0"/>
              <a:t>agent.py</a:t>
            </a:r>
          </a:p>
          <a:p>
            <a:pPr lvl="1"/>
            <a:r>
              <a:rPr lang="en-US" altLang="zh-CN" dirty="0"/>
              <a:t>Agent</a:t>
            </a:r>
            <a:r>
              <a:rPr lang="zh-CN" altLang="en-US" dirty="0"/>
              <a:t>基类，按顺序接收一个玩家在对局中观察到的事件，并在每个决策点整理出状态特征；将网络输出的动作转为事件</a:t>
            </a:r>
          </a:p>
        </p:txBody>
      </p:sp>
    </p:spTree>
    <p:extLst>
      <p:ext uri="{BB962C8B-B14F-4D97-AF65-F5344CB8AC3E}">
        <p14:creationId xmlns:p14="http://schemas.microsoft.com/office/powerpoint/2010/main" val="5088779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B0E144-5C23-4819-9512-CA97CF22EE1E}"/>
              </a:ext>
            </a:extLst>
          </p:cNvPr>
          <p:cNvSpPr>
            <a:spLocks noGrp="1"/>
          </p:cNvSpPr>
          <p:nvPr>
            <p:ph type="title"/>
          </p:nvPr>
        </p:nvSpPr>
        <p:spPr/>
        <p:txBody>
          <a:bodyPr>
            <a:normAutofit fontScale="90000"/>
          </a:bodyPr>
          <a:lstStyle/>
          <a:p>
            <a:r>
              <a:rPr lang="zh-CN" altLang="en-US" dirty="0"/>
              <a:t>代码结构</a:t>
            </a:r>
          </a:p>
        </p:txBody>
      </p:sp>
      <p:sp>
        <p:nvSpPr>
          <p:cNvPr id="3" name="内容占位符 2">
            <a:extLst>
              <a:ext uri="{FF2B5EF4-FFF2-40B4-BE49-F238E27FC236}">
                <a16:creationId xmlns:a16="http://schemas.microsoft.com/office/drawing/2014/main" id="{D5310B35-9AD2-4565-971F-587B91652FB0}"/>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588A76EC-533C-4C90-ABAE-7F2A94FBCE32}"/>
              </a:ext>
            </a:extLst>
          </p:cNvPr>
          <p:cNvPicPr>
            <a:picLocks noChangeAspect="1"/>
          </p:cNvPicPr>
          <p:nvPr/>
        </p:nvPicPr>
        <p:blipFill>
          <a:blip r:embed="rId2"/>
          <a:stretch>
            <a:fillRect/>
          </a:stretch>
        </p:blipFill>
        <p:spPr>
          <a:xfrm>
            <a:off x="838200" y="1690688"/>
            <a:ext cx="3587205" cy="4807388"/>
          </a:xfrm>
          <a:prstGeom prst="rect">
            <a:avLst/>
          </a:prstGeom>
        </p:spPr>
      </p:pic>
      <p:pic>
        <p:nvPicPr>
          <p:cNvPr id="7" name="图片 6">
            <a:extLst>
              <a:ext uri="{FF2B5EF4-FFF2-40B4-BE49-F238E27FC236}">
                <a16:creationId xmlns:a16="http://schemas.microsoft.com/office/drawing/2014/main" id="{CE08D245-ED30-46E7-BA33-113ECA1D14DB}"/>
              </a:ext>
            </a:extLst>
          </p:cNvPr>
          <p:cNvPicPr>
            <a:picLocks noChangeAspect="1"/>
          </p:cNvPicPr>
          <p:nvPr/>
        </p:nvPicPr>
        <p:blipFill>
          <a:blip r:embed="rId3"/>
          <a:stretch>
            <a:fillRect/>
          </a:stretch>
        </p:blipFill>
        <p:spPr>
          <a:xfrm>
            <a:off x="4988802" y="2416731"/>
            <a:ext cx="4526672" cy="2865368"/>
          </a:xfrm>
          <a:prstGeom prst="rect">
            <a:avLst/>
          </a:prstGeom>
        </p:spPr>
      </p:pic>
    </p:spTree>
    <p:extLst>
      <p:ext uri="{BB962C8B-B14F-4D97-AF65-F5344CB8AC3E}">
        <p14:creationId xmlns:p14="http://schemas.microsoft.com/office/powerpoint/2010/main" val="34051069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3CC9ED-AF4C-46F2-AC92-C9CA9440B9C9}"/>
              </a:ext>
            </a:extLst>
          </p:cNvPr>
          <p:cNvSpPr>
            <a:spLocks noGrp="1"/>
          </p:cNvSpPr>
          <p:nvPr>
            <p:ph type="title"/>
          </p:nvPr>
        </p:nvSpPr>
        <p:spPr/>
        <p:txBody>
          <a:bodyPr>
            <a:normAutofit fontScale="90000"/>
          </a:bodyPr>
          <a:lstStyle/>
          <a:p>
            <a:r>
              <a:rPr lang="zh-CN" altLang="en-US" dirty="0"/>
              <a:t>代码结构</a:t>
            </a:r>
          </a:p>
        </p:txBody>
      </p:sp>
      <p:sp>
        <p:nvSpPr>
          <p:cNvPr id="3" name="内容占位符 2">
            <a:extLst>
              <a:ext uri="{FF2B5EF4-FFF2-40B4-BE49-F238E27FC236}">
                <a16:creationId xmlns:a16="http://schemas.microsoft.com/office/drawing/2014/main" id="{5E717252-F6DE-4E32-980A-D8EEEEB9F40C}"/>
              </a:ext>
            </a:extLst>
          </p:cNvPr>
          <p:cNvSpPr>
            <a:spLocks noGrp="1"/>
          </p:cNvSpPr>
          <p:nvPr>
            <p:ph idx="1"/>
          </p:nvPr>
        </p:nvSpPr>
        <p:spPr/>
        <p:txBody>
          <a:bodyPr/>
          <a:lstStyle/>
          <a:p>
            <a:r>
              <a:rPr lang="en-US" altLang="zh-CN" dirty="0"/>
              <a:t>feature.py</a:t>
            </a:r>
          </a:p>
          <a:p>
            <a:pPr lvl="1"/>
            <a:r>
              <a:rPr lang="en-US" altLang="zh-CN" dirty="0" err="1"/>
              <a:t>FeatureAgent</a:t>
            </a:r>
            <a:r>
              <a:rPr lang="zh-CN" altLang="en-US" dirty="0"/>
              <a:t>继承自</a:t>
            </a:r>
            <a:r>
              <a:rPr lang="en-US" altLang="zh-CN" dirty="0"/>
              <a:t>Agent</a:t>
            </a:r>
            <a:r>
              <a:rPr lang="zh-CN" altLang="en-US" dirty="0"/>
              <a:t>类，按照麻将规则处理出每个决策点的所有可行动作以及简单的特征表示</a:t>
            </a:r>
            <a:endParaRPr lang="en-US" altLang="zh-CN" dirty="0"/>
          </a:p>
          <a:p>
            <a:pPr lvl="1"/>
            <a:r>
              <a:rPr lang="zh-CN" altLang="en-US" dirty="0"/>
              <a:t>示例的特征为</a:t>
            </a:r>
            <a:r>
              <a:rPr lang="en-US" altLang="zh-CN" dirty="0"/>
              <a:t>6*4*9</a:t>
            </a:r>
            <a:r>
              <a:rPr lang="zh-CN" altLang="en-US" dirty="0"/>
              <a:t>，仅包含圈风、门风和自己手牌</a:t>
            </a:r>
            <a:endParaRPr lang="en-US" altLang="zh-CN" dirty="0"/>
          </a:p>
          <a:p>
            <a:pPr lvl="1"/>
            <a:endParaRPr lang="en-US" altLang="zh-CN" dirty="0"/>
          </a:p>
          <a:p>
            <a:pPr lvl="1"/>
            <a:r>
              <a:rPr lang="zh-CN" altLang="en-US" dirty="0"/>
              <a:t>需要对这个类进行修改，以支持更加完整的特征提取（尽量囊括所有可见信息）</a:t>
            </a:r>
          </a:p>
        </p:txBody>
      </p:sp>
    </p:spTree>
    <p:extLst>
      <p:ext uri="{BB962C8B-B14F-4D97-AF65-F5344CB8AC3E}">
        <p14:creationId xmlns:p14="http://schemas.microsoft.com/office/powerpoint/2010/main" val="20959472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87135A-0886-4009-8BCB-3C37ACB664CF}"/>
              </a:ext>
            </a:extLst>
          </p:cNvPr>
          <p:cNvSpPr>
            <a:spLocks noGrp="1"/>
          </p:cNvSpPr>
          <p:nvPr>
            <p:ph type="title"/>
          </p:nvPr>
        </p:nvSpPr>
        <p:spPr/>
        <p:txBody>
          <a:bodyPr>
            <a:normAutofit fontScale="90000"/>
          </a:bodyPr>
          <a:lstStyle/>
          <a:p>
            <a:r>
              <a:rPr lang="zh-CN" altLang="en-US" dirty="0"/>
              <a:t>代码结构</a:t>
            </a:r>
          </a:p>
        </p:txBody>
      </p:sp>
      <p:sp>
        <p:nvSpPr>
          <p:cNvPr id="3" name="内容占位符 2">
            <a:extLst>
              <a:ext uri="{FF2B5EF4-FFF2-40B4-BE49-F238E27FC236}">
                <a16:creationId xmlns:a16="http://schemas.microsoft.com/office/drawing/2014/main" id="{FAC436A2-CFB3-4FED-8BDE-B35ADBB6713F}"/>
              </a:ext>
            </a:extLst>
          </p:cNvPr>
          <p:cNvSpPr>
            <a:spLocks noGrp="1"/>
          </p:cNvSpPr>
          <p:nvPr>
            <p:ph idx="1"/>
          </p:nvPr>
        </p:nvSpPr>
        <p:spPr/>
        <p:txBody>
          <a:bodyPr/>
          <a:lstStyle/>
          <a:p>
            <a:r>
              <a:rPr lang="en-US" altLang="zh-CN" dirty="0"/>
              <a:t>preprocess.py</a:t>
            </a:r>
          </a:p>
          <a:p>
            <a:pPr lvl="1"/>
            <a:r>
              <a:rPr lang="zh-CN" altLang="en-US" dirty="0"/>
              <a:t>数据预处理，对于每一局数据，建四个</a:t>
            </a:r>
            <a:r>
              <a:rPr lang="en-US" altLang="zh-CN" dirty="0" err="1"/>
              <a:t>FeatureAgent</a:t>
            </a:r>
            <a:r>
              <a:rPr lang="zh-CN" altLang="en-US" dirty="0"/>
              <a:t>（作为四个玩家视角），将对局中的事件传给相应的</a:t>
            </a:r>
            <a:r>
              <a:rPr lang="en-US" altLang="zh-CN" dirty="0"/>
              <a:t>agent</a:t>
            </a:r>
            <a:r>
              <a:rPr lang="zh-CN" altLang="en-US" dirty="0"/>
              <a:t>，整理出每个人每个决策点下的特征表示以及实际选择的动作，保存到</a:t>
            </a:r>
            <a:r>
              <a:rPr lang="en-US" altLang="zh-CN" dirty="0"/>
              <a:t>data</a:t>
            </a:r>
            <a:r>
              <a:rPr lang="zh-CN" altLang="en-US" dirty="0"/>
              <a:t>文件夹下</a:t>
            </a:r>
          </a:p>
        </p:txBody>
      </p:sp>
    </p:spTree>
    <p:extLst>
      <p:ext uri="{BB962C8B-B14F-4D97-AF65-F5344CB8AC3E}">
        <p14:creationId xmlns:p14="http://schemas.microsoft.com/office/powerpoint/2010/main" val="21211861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45FB43-D650-4D38-AB5D-FAD478D7C98B}"/>
              </a:ext>
            </a:extLst>
          </p:cNvPr>
          <p:cNvSpPr>
            <a:spLocks noGrp="1"/>
          </p:cNvSpPr>
          <p:nvPr>
            <p:ph type="title"/>
          </p:nvPr>
        </p:nvSpPr>
        <p:spPr/>
        <p:txBody>
          <a:bodyPr>
            <a:normAutofit fontScale="90000"/>
          </a:bodyPr>
          <a:lstStyle/>
          <a:p>
            <a:r>
              <a:rPr lang="zh-CN" altLang="en-US" dirty="0"/>
              <a:t>代码结构</a:t>
            </a:r>
          </a:p>
        </p:txBody>
      </p:sp>
      <p:sp>
        <p:nvSpPr>
          <p:cNvPr id="3" name="内容占位符 2">
            <a:extLst>
              <a:ext uri="{FF2B5EF4-FFF2-40B4-BE49-F238E27FC236}">
                <a16:creationId xmlns:a16="http://schemas.microsoft.com/office/drawing/2014/main" id="{11F3EB07-C69E-4035-A105-25A2706FF07A}"/>
              </a:ext>
            </a:extLst>
          </p:cNvPr>
          <p:cNvSpPr>
            <a:spLocks noGrp="1"/>
          </p:cNvSpPr>
          <p:nvPr>
            <p:ph idx="1"/>
          </p:nvPr>
        </p:nvSpPr>
        <p:spPr/>
        <p:txBody>
          <a:bodyPr/>
          <a:lstStyle/>
          <a:p>
            <a:r>
              <a:rPr lang="en-US" altLang="zh-CN" dirty="0"/>
              <a:t>dataset.py</a:t>
            </a:r>
          </a:p>
          <a:p>
            <a:pPr lvl="1"/>
            <a:r>
              <a:rPr lang="zh-CN" altLang="en-US" dirty="0"/>
              <a:t>将预处理好的数据集一次性加载到内存中，按全局索引获取状态动作对</a:t>
            </a:r>
            <a:endParaRPr lang="en-US" altLang="zh-CN" dirty="0"/>
          </a:p>
          <a:p>
            <a:pPr lvl="1"/>
            <a:endParaRPr lang="en-US" altLang="zh-CN" dirty="0"/>
          </a:p>
          <a:p>
            <a:pPr lvl="1"/>
            <a:r>
              <a:rPr lang="zh-CN" altLang="en-US" dirty="0"/>
              <a:t>可以对这个类进行修改，从而支持：</a:t>
            </a:r>
            <a:endParaRPr lang="en-US" altLang="zh-CN" dirty="0"/>
          </a:p>
          <a:p>
            <a:pPr lvl="2"/>
            <a:r>
              <a:rPr lang="zh-CN" altLang="en-US" dirty="0"/>
              <a:t>延迟加载数据（特征复杂后数据量特别大，没法装进内存）</a:t>
            </a:r>
            <a:endParaRPr lang="en-US" altLang="zh-CN" dirty="0"/>
          </a:p>
          <a:p>
            <a:pPr lvl="2"/>
            <a:r>
              <a:rPr lang="zh-CN" altLang="en-US" dirty="0"/>
              <a:t>数据增强</a:t>
            </a:r>
          </a:p>
        </p:txBody>
      </p:sp>
    </p:spTree>
    <p:extLst>
      <p:ext uri="{BB962C8B-B14F-4D97-AF65-F5344CB8AC3E}">
        <p14:creationId xmlns:p14="http://schemas.microsoft.com/office/powerpoint/2010/main" val="18750431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349781-1935-4226-8DC7-CBFA88441651}"/>
              </a:ext>
            </a:extLst>
          </p:cNvPr>
          <p:cNvSpPr>
            <a:spLocks noGrp="1"/>
          </p:cNvSpPr>
          <p:nvPr>
            <p:ph type="title"/>
          </p:nvPr>
        </p:nvSpPr>
        <p:spPr/>
        <p:txBody>
          <a:bodyPr>
            <a:normAutofit fontScale="90000"/>
          </a:bodyPr>
          <a:lstStyle/>
          <a:p>
            <a:r>
              <a:rPr lang="zh-CN" altLang="en-US" dirty="0"/>
              <a:t>代码结构</a:t>
            </a:r>
          </a:p>
        </p:txBody>
      </p:sp>
      <p:sp>
        <p:nvSpPr>
          <p:cNvPr id="3" name="内容占位符 2">
            <a:extLst>
              <a:ext uri="{FF2B5EF4-FFF2-40B4-BE49-F238E27FC236}">
                <a16:creationId xmlns:a16="http://schemas.microsoft.com/office/drawing/2014/main" id="{2D5D944E-4ED1-40BA-BF3B-9990F7297644}"/>
              </a:ext>
            </a:extLst>
          </p:cNvPr>
          <p:cNvSpPr>
            <a:spLocks noGrp="1"/>
          </p:cNvSpPr>
          <p:nvPr>
            <p:ph idx="1"/>
          </p:nvPr>
        </p:nvSpPr>
        <p:spPr/>
        <p:txBody>
          <a:bodyPr/>
          <a:lstStyle/>
          <a:p>
            <a:r>
              <a:rPr lang="en-US" altLang="zh-CN" dirty="0"/>
              <a:t>model.py</a:t>
            </a:r>
          </a:p>
          <a:p>
            <a:pPr lvl="1"/>
            <a:r>
              <a:rPr lang="zh-CN" altLang="en-US" dirty="0"/>
              <a:t>示例用神经网络，包括三层卷积和两层全连接</a:t>
            </a:r>
            <a:endParaRPr lang="en-US" altLang="zh-CN" dirty="0"/>
          </a:p>
          <a:p>
            <a:pPr lvl="1"/>
            <a:endParaRPr lang="en-US" altLang="zh-CN" dirty="0"/>
          </a:p>
          <a:p>
            <a:pPr lvl="1"/>
            <a:endParaRPr lang="en-US" altLang="zh-CN" dirty="0"/>
          </a:p>
          <a:p>
            <a:pPr lvl="1"/>
            <a:r>
              <a:rPr lang="zh-CN" altLang="en-US" dirty="0"/>
              <a:t>需要对这个类进行修改，以构建表达能力更强的神经网络</a:t>
            </a:r>
          </a:p>
        </p:txBody>
      </p:sp>
    </p:spTree>
    <p:extLst>
      <p:ext uri="{BB962C8B-B14F-4D97-AF65-F5344CB8AC3E}">
        <p14:creationId xmlns:p14="http://schemas.microsoft.com/office/powerpoint/2010/main" val="29955059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E4ECF2-EC42-48F2-A62A-31859E0A5941}"/>
              </a:ext>
            </a:extLst>
          </p:cNvPr>
          <p:cNvSpPr>
            <a:spLocks noGrp="1"/>
          </p:cNvSpPr>
          <p:nvPr>
            <p:ph type="title"/>
          </p:nvPr>
        </p:nvSpPr>
        <p:spPr/>
        <p:txBody>
          <a:bodyPr>
            <a:normAutofit fontScale="90000"/>
          </a:bodyPr>
          <a:lstStyle/>
          <a:p>
            <a:r>
              <a:rPr lang="zh-CN" altLang="en-US" dirty="0"/>
              <a:t>代码结构</a:t>
            </a:r>
          </a:p>
        </p:txBody>
      </p:sp>
      <p:sp>
        <p:nvSpPr>
          <p:cNvPr id="3" name="内容占位符 2">
            <a:extLst>
              <a:ext uri="{FF2B5EF4-FFF2-40B4-BE49-F238E27FC236}">
                <a16:creationId xmlns:a16="http://schemas.microsoft.com/office/drawing/2014/main" id="{97BD2CB6-FAB7-4663-9426-D08F2A83F827}"/>
              </a:ext>
            </a:extLst>
          </p:cNvPr>
          <p:cNvSpPr>
            <a:spLocks noGrp="1"/>
          </p:cNvSpPr>
          <p:nvPr>
            <p:ph idx="1"/>
          </p:nvPr>
        </p:nvSpPr>
        <p:spPr/>
        <p:txBody>
          <a:bodyPr>
            <a:normAutofit/>
          </a:bodyPr>
          <a:lstStyle/>
          <a:p>
            <a:r>
              <a:rPr lang="en-US" altLang="zh-CN" dirty="0"/>
              <a:t>supervised.py</a:t>
            </a:r>
          </a:p>
          <a:p>
            <a:pPr lvl="1"/>
            <a:r>
              <a:rPr lang="zh-CN" altLang="en-US" dirty="0"/>
              <a:t>监督学习流程。划分数据集，创建网络和优化器，训练过程中每一个</a:t>
            </a:r>
            <a:r>
              <a:rPr lang="en-US" altLang="zh-CN" dirty="0"/>
              <a:t>epoch</a:t>
            </a:r>
            <a:r>
              <a:rPr lang="zh-CN" altLang="en-US" dirty="0"/>
              <a:t>结束会在验证集上测试</a:t>
            </a:r>
            <a:endParaRPr lang="en-US" altLang="zh-CN" dirty="0"/>
          </a:p>
          <a:p>
            <a:pPr lvl="1"/>
            <a:endParaRPr lang="en-US" altLang="zh-CN" dirty="0"/>
          </a:p>
          <a:p>
            <a:pPr lvl="1"/>
            <a:r>
              <a:rPr lang="zh-CN" altLang="en-US" dirty="0"/>
              <a:t>可以对代码进行修改，从而：</a:t>
            </a:r>
            <a:endParaRPr lang="en-US" altLang="zh-CN" dirty="0"/>
          </a:p>
          <a:p>
            <a:pPr lvl="2"/>
            <a:r>
              <a:rPr lang="zh-CN" altLang="en-US" dirty="0"/>
              <a:t>改变数据集划分、</a:t>
            </a:r>
            <a:r>
              <a:rPr lang="en-US" altLang="zh-CN" dirty="0"/>
              <a:t>batch</a:t>
            </a:r>
            <a:r>
              <a:rPr lang="zh-CN" altLang="en-US" dirty="0"/>
              <a:t>大小、学习率等超参数</a:t>
            </a:r>
            <a:endParaRPr lang="en-US" altLang="zh-CN" dirty="0"/>
          </a:p>
          <a:p>
            <a:pPr lvl="2"/>
            <a:r>
              <a:rPr lang="zh-CN" altLang="en-US" dirty="0"/>
              <a:t>从上一次训练的</a:t>
            </a:r>
            <a:r>
              <a:rPr lang="en-US" altLang="zh-CN" dirty="0"/>
              <a:t>checkpoint</a:t>
            </a:r>
            <a:r>
              <a:rPr lang="zh-CN" altLang="en-US" dirty="0"/>
              <a:t>加载模型接续训练</a:t>
            </a:r>
            <a:endParaRPr lang="en-US" altLang="zh-CN" dirty="0"/>
          </a:p>
          <a:p>
            <a:pPr lvl="2"/>
            <a:r>
              <a:rPr lang="zh-CN" altLang="en-US" dirty="0"/>
              <a:t>对训练进展进行监控和分析（如打印日志到</a:t>
            </a:r>
            <a:r>
              <a:rPr lang="en-US" altLang="zh-CN" dirty="0" err="1"/>
              <a:t>tensorboard</a:t>
            </a:r>
            <a:r>
              <a:rPr lang="zh-CN" altLang="en-US" dirty="0"/>
              <a:t>等）</a:t>
            </a:r>
          </a:p>
        </p:txBody>
      </p:sp>
    </p:spTree>
    <p:extLst>
      <p:ext uri="{BB962C8B-B14F-4D97-AF65-F5344CB8AC3E}">
        <p14:creationId xmlns:p14="http://schemas.microsoft.com/office/powerpoint/2010/main" val="10596266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56BEAB-5D23-4D14-8305-A566E8543E26}"/>
              </a:ext>
            </a:extLst>
          </p:cNvPr>
          <p:cNvSpPr>
            <a:spLocks noGrp="1"/>
          </p:cNvSpPr>
          <p:nvPr>
            <p:ph type="title"/>
          </p:nvPr>
        </p:nvSpPr>
        <p:spPr/>
        <p:txBody>
          <a:bodyPr>
            <a:normAutofit fontScale="90000"/>
          </a:bodyPr>
          <a:lstStyle/>
          <a:p>
            <a:r>
              <a:rPr lang="zh-CN" altLang="en-US" dirty="0"/>
              <a:t>代码结构</a:t>
            </a:r>
          </a:p>
        </p:txBody>
      </p:sp>
      <p:sp>
        <p:nvSpPr>
          <p:cNvPr id="3" name="内容占位符 2">
            <a:extLst>
              <a:ext uri="{FF2B5EF4-FFF2-40B4-BE49-F238E27FC236}">
                <a16:creationId xmlns:a16="http://schemas.microsoft.com/office/drawing/2014/main" id="{9E6C6E60-FA67-49B6-BC3F-8F43FBED67D3}"/>
              </a:ext>
            </a:extLst>
          </p:cNvPr>
          <p:cNvSpPr>
            <a:spLocks noGrp="1"/>
          </p:cNvSpPr>
          <p:nvPr>
            <p:ph idx="1"/>
          </p:nvPr>
        </p:nvSpPr>
        <p:spPr/>
        <p:txBody>
          <a:bodyPr/>
          <a:lstStyle/>
          <a:p>
            <a:r>
              <a:rPr lang="en-US" altLang="zh-CN" dirty="0"/>
              <a:t>__main__.py</a:t>
            </a:r>
          </a:p>
          <a:p>
            <a:pPr lvl="1"/>
            <a:r>
              <a:rPr lang="zh-CN" altLang="en-US" dirty="0"/>
              <a:t>与</a:t>
            </a:r>
            <a:r>
              <a:rPr lang="en-US" altLang="zh-CN" dirty="0" err="1"/>
              <a:t>Botzone</a:t>
            </a:r>
            <a:r>
              <a:rPr lang="zh-CN" altLang="en-US" dirty="0"/>
              <a:t>交互的</a:t>
            </a:r>
            <a:r>
              <a:rPr lang="en-US" altLang="zh-CN" dirty="0"/>
              <a:t>Bot</a:t>
            </a:r>
            <a:r>
              <a:rPr lang="zh-CN" altLang="en-US" dirty="0"/>
              <a:t>代码。将</a:t>
            </a:r>
            <a:r>
              <a:rPr lang="en-US" altLang="zh-CN" dirty="0" err="1"/>
              <a:t>Botzone</a:t>
            </a:r>
            <a:r>
              <a:rPr lang="zh-CN" altLang="en-US" dirty="0"/>
              <a:t>的输入整理后交给</a:t>
            </a:r>
            <a:r>
              <a:rPr lang="en-US" altLang="zh-CN" dirty="0"/>
              <a:t>Agent</a:t>
            </a:r>
            <a:r>
              <a:rPr lang="zh-CN" altLang="en-US" dirty="0"/>
              <a:t>类处理，得到状态特征作为网络输入，网络输出的动作再转成字符串，进一步转成</a:t>
            </a:r>
            <a:r>
              <a:rPr lang="en-US" altLang="zh-CN" dirty="0" err="1"/>
              <a:t>Botzone</a:t>
            </a:r>
            <a:r>
              <a:rPr lang="zh-CN" altLang="en-US" dirty="0"/>
              <a:t>输出格式</a:t>
            </a:r>
            <a:endParaRPr lang="en-US" altLang="zh-CN" dirty="0"/>
          </a:p>
          <a:p>
            <a:pPr lvl="1"/>
            <a:endParaRPr lang="en-US" altLang="zh-CN" dirty="0"/>
          </a:p>
          <a:p>
            <a:pPr lvl="1"/>
            <a:r>
              <a:rPr lang="zh-CN" altLang="en-US" dirty="0"/>
              <a:t>不建议修改，可以阅读该代码理解</a:t>
            </a:r>
            <a:r>
              <a:rPr lang="en-US" altLang="zh-CN" dirty="0"/>
              <a:t>Agent</a:t>
            </a:r>
            <a:r>
              <a:rPr lang="zh-CN" altLang="en-US" dirty="0"/>
              <a:t>类的接口</a:t>
            </a:r>
          </a:p>
        </p:txBody>
      </p:sp>
    </p:spTree>
    <p:extLst>
      <p:ext uri="{BB962C8B-B14F-4D97-AF65-F5344CB8AC3E}">
        <p14:creationId xmlns:p14="http://schemas.microsoft.com/office/powerpoint/2010/main" val="23496139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BBC4C2-7577-4FAC-849A-442BEBD50F83}"/>
              </a:ext>
            </a:extLst>
          </p:cNvPr>
          <p:cNvSpPr>
            <a:spLocks noGrp="1"/>
          </p:cNvSpPr>
          <p:nvPr>
            <p:ph type="title"/>
          </p:nvPr>
        </p:nvSpPr>
        <p:spPr/>
        <p:txBody>
          <a:bodyPr>
            <a:normAutofit fontScale="90000"/>
          </a:bodyPr>
          <a:lstStyle/>
          <a:p>
            <a:r>
              <a:rPr lang="zh-CN" altLang="en-US" dirty="0"/>
              <a:t>代码细节</a:t>
            </a:r>
          </a:p>
        </p:txBody>
      </p:sp>
      <p:sp>
        <p:nvSpPr>
          <p:cNvPr id="3" name="内容占位符 2">
            <a:extLst>
              <a:ext uri="{FF2B5EF4-FFF2-40B4-BE49-F238E27FC236}">
                <a16:creationId xmlns:a16="http://schemas.microsoft.com/office/drawing/2014/main" id="{2E48ACCB-51B3-4CAF-9F29-E3E478E60284}"/>
              </a:ext>
            </a:extLst>
          </p:cNvPr>
          <p:cNvSpPr>
            <a:spLocks noGrp="1"/>
          </p:cNvSpPr>
          <p:nvPr>
            <p:ph idx="1"/>
          </p:nvPr>
        </p:nvSpPr>
        <p:spPr/>
        <p:txBody>
          <a:bodyPr>
            <a:normAutofit lnSpcReduction="10000"/>
          </a:bodyPr>
          <a:lstStyle/>
          <a:p>
            <a:r>
              <a:rPr lang="en-US" altLang="zh-CN" sz="3200" dirty="0" err="1"/>
              <a:t>Botzone</a:t>
            </a:r>
            <a:r>
              <a:rPr lang="zh-CN" altLang="en-US" sz="3200" dirty="0"/>
              <a:t>上把吃</a:t>
            </a:r>
            <a:r>
              <a:rPr lang="en-US" altLang="zh-CN" sz="3200" dirty="0"/>
              <a:t>/</a:t>
            </a:r>
            <a:r>
              <a:rPr lang="zh-CN" altLang="en-US" sz="3200" dirty="0"/>
              <a:t>碰和之后的打牌看做一个动作，但吃</a:t>
            </a:r>
            <a:r>
              <a:rPr lang="en-US" altLang="zh-CN" sz="3200" dirty="0"/>
              <a:t>/</a:t>
            </a:r>
            <a:r>
              <a:rPr lang="zh-CN" altLang="en-US" sz="3200" dirty="0"/>
              <a:t>碰可能会被别人抢</a:t>
            </a:r>
            <a:endParaRPr lang="en-US" altLang="zh-CN" sz="3200" dirty="0"/>
          </a:p>
          <a:p>
            <a:r>
              <a:rPr lang="zh-CN" altLang="en-US" sz="3200" dirty="0"/>
              <a:t>但训练的模型将其看做两个动作（先选择是否吃</a:t>
            </a:r>
            <a:r>
              <a:rPr lang="en-US" altLang="zh-CN" sz="3200" dirty="0"/>
              <a:t>/</a:t>
            </a:r>
            <a:r>
              <a:rPr lang="zh-CN" altLang="en-US" sz="3200" dirty="0"/>
              <a:t>碰，再选择一张牌打出）</a:t>
            </a:r>
            <a:endParaRPr lang="en-US" altLang="zh-CN" sz="3200" dirty="0"/>
          </a:p>
          <a:p>
            <a:r>
              <a:rPr lang="zh-CN" altLang="en-US" sz="3200" dirty="0"/>
              <a:t>所以</a:t>
            </a:r>
            <a:r>
              <a:rPr lang="en-US" altLang="zh-CN" sz="3200" dirty="0"/>
              <a:t>Bot</a:t>
            </a:r>
            <a:r>
              <a:rPr lang="zh-CN" altLang="en-US" sz="3200" dirty="0"/>
              <a:t>代码实现中，会先告诉</a:t>
            </a:r>
            <a:r>
              <a:rPr lang="en-US" altLang="zh-CN" sz="3200" dirty="0"/>
              <a:t>Agent</a:t>
            </a:r>
            <a:r>
              <a:rPr lang="zh-CN" altLang="en-US" sz="3200" dirty="0"/>
              <a:t>吃</a:t>
            </a:r>
            <a:r>
              <a:rPr lang="en-US" altLang="zh-CN" sz="3200" dirty="0"/>
              <a:t>/</a:t>
            </a:r>
            <a:r>
              <a:rPr lang="zh-CN" altLang="en-US" sz="3200" dirty="0"/>
              <a:t>碰成功，再过一次网络计算出要打的牌，然后从</a:t>
            </a:r>
            <a:r>
              <a:rPr lang="en-US" altLang="zh-CN" sz="3200" dirty="0"/>
              <a:t>Agent</a:t>
            </a:r>
            <a:r>
              <a:rPr lang="zh-CN" altLang="en-US" sz="3200" dirty="0"/>
              <a:t>类撤销这一次吃</a:t>
            </a:r>
            <a:r>
              <a:rPr lang="en-US" altLang="zh-CN" sz="3200" dirty="0"/>
              <a:t>/</a:t>
            </a:r>
            <a:r>
              <a:rPr lang="zh-CN" altLang="en-US" sz="3200" dirty="0"/>
              <a:t>碰成功的事件，根据环境的实际反馈来处理新事件</a:t>
            </a:r>
            <a:endParaRPr lang="en-US" altLang="zh-CN" sz="3200" dirty="0"/>
          </a:p>
          <a:p>
            <a:r>
              <a:rPr lang="en-US" altLang="zh-CN" sz="3200" dirty="0"/>
              <a:t>Agent</a:t>
            </a:r>
            <a:r>
              <a:rPr lang="zh-CN" altLang="en-US" sz="3200" dirty="0"/>
              <a:t>类收到的事件中会包含</a:t>
            </a:r>
            <a:r>
              <a:rPr lang="en-US" altLang="zh-CN" sz="3200" dirty="0" err="1"/>
              <a:t>UnChi</a:t>
            </a:r>
            <a:r>
              <a:rPr lang="zh-CN" altLang="en-US" sz="3200" dirty="0"/>
              <a:t>和</a:t>
            </a:r>
            <a:r>
              <a:rPr lang="en-US" altLang="zh-CN" sz="3200" dirty="0" err="1"/>
              <a:t>UnPeng</a:t>
            </a:r>
            <a:r>
              <a:rPr lang="zh-CN" altLang="en-US" sz="3200" dirty="0"/>
              <a:t>，修改特征处理时需要注意</a:t>
            </a:r>
          </a:p>
        </p:txBody>
      </p:sp>
    </p:spTree>
    <p:extLst>
      <p:ext uri="{BB962C8B-B14F-4D97-AF65-F5344CB8AC3E}">
        <p14:creationId xmlns:p14="http://schemas.microsoft.com/office/powerpoint/2010/main" val="41897838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9623DD-F495-4428-B8B9-BAF1383F8901}"/>
              </a:ext>
            </a:extLst>
          </p:cNvPr>
          <p:cNvSpPr>
            <a:spLocks noGrp="1"/>
          </p:cNvSpPr>
          <p:nvPr>
            <p:ph type="title"/>
          </p:nvPr>
        </p:nvSpPr>
        <p:spPr/>
        <p:txBody>
          <a:bodyPr>
            <a:normAutofit fontScale="90000"/>
          </a:bodyPr>
          <a:lstStyle/>
          <a:p>
            <a:r>
              <a:rPr lang="zh-CN" altLang="en-US" dirty="0"/>
              <a:t>使用说明</a:t>
            </a:r>
          </a:p>
        </p:txBody>
      </p:sp>
      <p:sp>
        <p:nvSpPr>
          <p:cNvPr id="3" name="内容占位符 2">
            <a:extLst>
              <a:ext uri="{FF2B5EF4-FFF2-40B4-BE49-F238E27FC236}">
                <a16:creationId xmlns:a16="http://schemas.microsoft.com/office/drawing/2014/main" id="{9237A82C-D72C-417A-9EB0-65D036F9A235}"/>
              </a:ext>
            </a:extLst>
          </p:cNvPr>
          <p:cNvSpPr>
            <a:spLocks noGrp="1"/>
          </p:cNvSpPr>
          <p:nvPr>
            <p:ph idx="1"/>
          </p:nvPr>
        </p:nvSpPr>
        <p:spPr/>
        <p:txBody>
          <a:bodyPr>
            <a:normAutofit/>
          </a:bodyPr>
          <a:lstStyle/>
          <a:p>
            <a:r>
              <a:rPr lang="zh-CN" altLang="en-US" sz="3200" dirty="0"/>
              <a:t>（</a:t>
            </a:r>
            <a:r>
              <a:rPr lang="en-US" altLang="zh-CN" sz="3200" dirty="0"/>
              <a:t>1</a:t>
            </a:r>
            <a:r>
              <a:rPr lang="zh-CN" altLang="en-US" sz="3200" dirty="0"/>
              <a:t>）先运行</a:t>
            </a:r>
            <a:r>
              <a:rPr lang="en-US" altLang="zh-CN" sz="3200" dirty="0"/>
              <a:t>preprocess.py</a:t>
            </a:r>
            <a:r>
              <a:rPr lang="zh-CN" altLang="en-US" sz="3200" dirty="0"/>
              <a:t>，将对局数据预处理保存到</a:t>
            </a:r>
            <a:r>
              <a:rPr lang="en-US" altLang="zh-CN" sz="3200" dirty="0"/>
              <a:t>data</a:t>
            </a:r>
            <a:r>
              <a:rPr lang="zh-CN" altLang="en-US" sz="3200" dirty="0"/>
              <a:t>文件夹下</a:t>
            </a:r>
            <a:endParaRPr lang="en-US" altLang="zh-CN" sz="3200" dirty="0"/>
          </a:p>
          <a:p>
            <a:r>
              <a:rPr lang="zh-CN" altLang="en-US" sz="3200" dirty="0"/>
              <a:t>（</a:t>
            </a:r>
            <a:r>
              <a:rPr lang="en-US" altLang="zh-CN" sz="3200" dirty="0"/>
              <a:t>2</a:t>
            </a:r>
            <a:r>
              <a:rPr lang="zh-CN" altLang="en-US" sz="3200" dirty="0"/>
              <a:t>）运行</a:t>
            </a:r>
            <a:r>
              <a:rPr lang="en-US" altLang="zh-CN" sz="3200" dirty="0"/>
              <a:t>supervised.py</a:t>
            </a:r>
            <a:r>
              <a:rPr lang="zh-CN" altLang="en-US" sz="3200" dirty="0"/>
              <a:t>进行训练</a:t>
            </a:r>
            <a:endParaRPr lang="en-US" altLang="zh-CN" sz="3200" dirty="0"/>
          </a:p>
          <a:p>
            <a:r>
              <a:rPr lang="zh-CN" altLang="en-US" sz="3200" dirty="0"/>
              <a:t>（</a:t>
            </a:r>
            <a:r>
              <a:rPr lang="en-US" altLang="zh-CN" sz="3200" dirty="0"/>
              <a:t>3</a:t>
            </a:r>
            <a:r>
              <a:rPr lang="zh-CN" altLang="en-US" sz="3200" dirty="0"/>
              <a:t>）将</a:t>
            </a:r>
            <a:r>
              <a:rPr lang="en-US" altLang="zh-CN" sz="3200" dirty="0"/>
              <a:t>log/checkpoint</a:t>
            </a:r>
            <a:r>
              <a:rPr lang="zh-CN" altLang="en-US" sz="3200" dirty="0"/>
              <a:t>下保存的参数文件上传到</a:t>
            </a:r>
            <a:r>
              <a:rPr lang="en-US" altLang="zh-CN" sz="3200" dirty="0" err="1"/>
              <a:t>Botzone</a:t>
            </a:r>
            <a:r>
              <a:rPr lang="zh-CN" altLang="en-US" sz="3200" dirty="0"/>
              <a:t>用户空间中，相应修改</a:t>
            </a:r>
            <a:r>
              <a:rPr lang="en-US" altLang="zh-CN" sz="3200" dirty="0"/>
              <a:t>__main__.py</a:t>
            </a:r>
            <a:r>
              <a:rPr lang="zh-CN" altLang="en-US" sz="3200" dirty="0"/>
              <a:t>中的参数路径，然后打包所有</a:t>
            </a:r>
            <a:r>
              <a:rPr lang="en-US" altLang="zh-CN" sz="3200" dirty="0" err="1"/>
              <a:t>py</a:t>
            </a:r>
            <a:r>
              <a:rPr lang="zh-CN" altLang="en-US" sz="3200" dirty="0"/>
              <a:t>文件成一个</a:t>
            </a:r>
            <a:r>
              <a:rPr lang="en-US" altLang="zh-CN" sz="3200" dirty="0"/>
              <a:t>zip</a:t>
            </a:r>
            <a:r>
              <a:rPr lang="zh-CN" altLang="en-US" sz="3200" dirty="0"/>
              <a:t>，作为</a:t>
            </a:r>
            <a:r>
              <a:rPr lang="en-US" altLang="zh-CN" sz="3200" dirty="0"/>
              <a:t>Bot</a:t>
            </a:r>
            <a:r>
              <a:rPr lang="zh-CN" altLang="en-US" sz="3200" dirty="0"/>
              <a:t>代码上传</a:t>
            </a:r>
          </a:p>
        </p:txBody>
      </p:sp>
    </p:spTree>
    <p:extLst>
      <p:ext uri="{BB962C8B-B14F-4D97-AF65-F5344CB8AC3E}">
        <p14:creationId xmlns:p14="http://schemas.microsoft.com/office/powerpoint/2010/main" val="3184203953"/>
      </p:ext>
    </p:extLst>
  </p:cSld>
  <p:clrMapOvr>
    <a:masterClrMapping/>
  </p:clrMapOvr>
</p:sld>
</file>

<file path=ppt/theme/theme1.xml><?xml version="1.0" encoding="utf-8"?>
<a:theme xmlns:a="http://schemas.openxmlformats.org/drawingml/2006/main" name="实验室">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实验室" id="{58E4617E-ED80-4670-AB37-167CB830D7F6}" vid="{B102D6D9-EC6A-43AB-9D54-71FF832CC0E7}"/>
    </a:ext>
  </a:extLst>
</a:theme>
</file>

<file path=docProps/app.xml><?xml version="1.0" encoding="utf-8"?>
<Properties xmlns="http://schemas.openxmlformats.org/officeDocument/2006/extended-properties" xmlns:vt="http://schemas.openxmlformats.org/officeDocument/2006/docPropsVTypes">
  <Template>实验室</Template>
  <TotalTime>169</TotalTime>
  <Words>998</Words>
  <Application>Microsoft Office PowerPoint</Application>
  <PresentationFormat>宽屏</PresentationFormat>
  <Paragraphs>108</Paragraphs>
  <Slides>20</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20</vt:i4>
      </vt:variant>
    </vt:vector>
  </HeadingPairs>
  <TitlesOfParts>
    <vt:vector size="24" baseType="lpstr">
      <vt:lpstr>Arial</vt:lpstr>
      <vt:lpstr>Calibri</vt:lpstr>
      <vt:lpstr>Calibri Light</vt:lpstr>
      <vt:lpstr>实验室</vt:lpstr>
      <vt:lpstr>国标麻将监督学习</vt:lpstr>
      <vt:lpstr>目录</vt:lpstr>
      <vt:lpstr>专家数据</vt:lpstr>
      <vt:lpstr>专家数据</vt:lpstr>
      <vt:lpstr>Botzone交互</vt:lpstr>
      <vt:lpstr>参考模型：IJCAI比赛第四名</vt:lpstr>
      <vt:lpstr>IJCAI比赛第四名</vt:lpstr>
      <vt:lpstr>IJCAI比赛第四名</vt:lpstr>
      <vt:lpstr>IJCAI比赛第四名</vt:lpstr>
      <vt:lpstr>示例代码</vt:lpstr>
      <vt:lpstr>代码结构</vt:lpstr>
      <vt:lpstr>代码结构</vt:lpstr>
      <vt:lpstr>代码结构</vt:lpstr>
      <vt:lpstr>代码结构</vt:lpstr>
      <vt:lpstr>代码结构</vt:lpstr>
      <vt:lpstr>代码结构</vt:lpstr>
      <vt:lpstr>代码结构</vt:lpstr>
      <vt:lpstr>代码结构</vt:lpstr>
      <vt:lpstr>代码细节</vt:lpstr>
      <vt:lpstr>使用说明</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国标麻将作业</dc:title>
  <dc:creator>鲁 云龙</dc:creator>
  <cp:lastModifiedBy>鲁 云龙</cp:lastModifiedBy>
  <cp:revision>236</cp:revision>
  <dcterms:created xsi:type="dcterms:W3CDTF">2022-03-22T11:13:02Z</dcterms:created>
  <dcterms:modified xsi:type="dcterms:W3CDTF">2023-05-13T11:35:52Z</dcterms:modified>
</cp:coreProperties>
</file>